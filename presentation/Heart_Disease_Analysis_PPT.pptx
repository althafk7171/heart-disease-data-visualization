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Montserrat" panose="00000500000000000000" pitchFamily="2" charset="0"/>
      <p:regular r:id="rId14"/>
    </p:embeddedFont>
    <p:embeddedFont>
      <p:font typeface="Montserrat Classic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610"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courses/data-science-live" TargetMode="External"/><Relationship Id="rId2" Type="http://schemas.openxmlformats.org/officeDocument/2006/relationships/hyperlink" Target="https://www.kaggle.com/datasets/fedesoriano/heart-failure-prediction"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100000">
            <a:off x="14324902" y="1469072"/>
            <a:ext cx="4879847" cy="15755995"/>
          </a:xfrm>
          <a:custGeom>
            <a:avLst/>
            <a:gdLst/>
            <a:ahLst/>
            <a:cxnLst/>
            <a:rect l="l" t="t" r="r" b="b"/>
            <a:pathLst>
              <a:path w="4879847" h="15755995">
                <a:moveTo>
                  <a:pt x="0" y="0"/>
                </a:moveTo>
                <a:lnTo>
                  <a:pt x="4879847" y="0"/>
                </a:lnTo>
                <a:lnTo>
                  <a:pt x="4879847" y="15755996"/>
                </a:lnTo>
                <a:lnTo>
                  <a:pt x="0" y="15755996"/>
                </a:lnTo>
                <a:lnTo>
                  <a:pt x="0" y="0"/>
                </a:lnTo>
                <a:close/>
              </a:path>
            </a:pathLst>
          </a:custGeom>
          <a:blipFill>
            <a:blip r:embed="rId2">
              <a:extLst>
                <a:ext uri="{96DAC541-7B7A-43D3-8B79-37D633B846F1}">
                  <asvg:svgBlip xmlns:asvg="http://schemas.microsoft.com/office/drawing/2016/SVG/main" r:embed="rId3"/>
                </a:ext>
              </a:extLst>
            </a:blip>
            <a:stretch>
              <a:fillRect l="-525794" t="-40822" b="-52994"/>
            </a:stretch>
          </a:blipFill>
        </p:spPr>
        <p:txBody>
          <a:bodyPr/>
          <a:lstStyle/>
          <a:p>
            <a:endParaRPr lang="en-US"/>
          </a:p>
        </p:txBody>
      </p:sp>
      <p:sp>
        <p:nvSpPr>
          <p:cNvPr id="3" name="Freeform 3"/>
          <p:cNvSpPr/>
          <p:nvPr/>
        </p:nvSpPr>
        <p:spPr>
          <a:xfrm rot="-10800000">
            <a:off x="8992690" y="1539949"/>
            <a:ext cx="9336114" cy="9336114"/>
          </a:xfrm>
          <a:custGeom>
            <a:avLst/>
            <a:gdLst/>
            <a:ahLst/>
            <a:cxnLst/>
            <a:rect l="l" t="t" r="r" b="b"/>
            <a:pathLst>
              <a:path w="9336114" h="9336114">
                <a:moveTo>
                  <a:pt x="0" y="0"/>
                </a:moveTo>
                <a:lnTo>
                  <a:pt x="9336113" y="0"/>
                </a:lnTo>
                <a:lnTo>
                  <a:pt x="9336113" y="9336114"/>
                </a:lnTo>
                <a:lnTo>
                  <a:pt x="0" y="933611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4" name="TextBox 4"/>
          <p:cNvSpPr txBox="1"/>
          <p:nvPr/>
        </p:nvSpPr>
        <p:spPr>
          <a:xfrm>
            <a:off x="1689456" y="3017518"/>
            <a:ext cx="12560523" cy="2486025"/>
          </a:xfrm>
          <a:prstGeom prst="rect">
            <a:avLst/>
          </a:prstGeom>
        </p:spPr>
        <p:txBody>
          <a:bodyPr lIns="0" tIns="0" rIns="0" bIns="0" rtlCol="0" anchor="t">
            <a:spAutoFit/>
          </a:bodyPr>
          <a:lstStyle/>
          <a:p>
            <a:pPr algn="l">
              <a:lnSpc>
                <a:spcPts val="9806"/>
              </a:lnSpc>
            </a:pPr>
            <a:r>
              <a:rPr lang="en-US" sz="8172" b="1" spc="294" dirty="0">
                <a:solidFill>
                  <a:srgbClr val="052A47"/>
                </a:solidFill>
                <a:latin typeface="Montserrat Classic Bold"/>
                <a:ea typeface="Montserrat Classic Bold"/>
                <a:cs typeface="Montserrat Classic Bold"/>
                <a:sym typeface="Montserrat Classic Bold"/>
              </a:rPr>
              <a:t>Data Visualization on Heart Disease Dataset</a:t>
            </a:r>
          </a:p>
        </p:txBody>
      </p:sp>
      <p:sp>
        <p:nvSpPr>
          <p:cNvPr id="5" name="Freeform 5"/>
          <p:cNvSpPr/>
          <p:nvPr/>
        </p:nvSpPr>
        <p:spPr>
          <a:xfrm rot="2700000">
            <a:off x="521329" y="-3317944"/>
            <a:ext cx="2336254" cy="7543272"/>
          </a:xfrm>
          <a:custGeom>
            <a:avLst/>
            <a:gdLst/>
            <a:ahLst/>
            <a:cxnLst/>
            <a:rect l="l" t="t" r="r" b="b"/>
            <a:pathLst>
              <a:path w="2336254" h="7543272">
                <a:moveTo>
                  <a:pt x="0" y="0"/>
                </a:moveTo>
                <a:lnTo>
                  <a:pt x="2336254" y="0"/>
                </a:lnTo>
                <a:lnTo>
                  <a:pt x="2336254" y="7543273"/>
                </a:lnTo>
                <a:lnTo>
                  <a:pt x="0" y="7543273"/>
                </a:lnTo>
                <a:lnTo>
                  <a:pt x="0" y="0"/>
                </a:lnTo>
                <a:close/>
              </a:path>
            </a:pathLst>
          </a:custGeom>
          <a:blipFill>
            <a:blip r:embed="rId2">
              <a:extLst>
                <a:ext uri="{96DAC541-7B7A-43D3-8B79-37D633B846F1}">
                  <asvg:svgBlip xmlns:asvg="http://schemas.microsoft.com/office/drawing/2016/SVG/main" r:embed="rId3"/>
                </a:ext>
              </a:extLst>
            </a:blip>
            <a:stretch>
              <a:fillRect l="-525794" t="-40822" b="-52994"/>
            </a:stretch>
          </a:blipFill>
        </p:spPr>
        <p:txBody>
          <a:bodyPr/>
          <a:lstStyle/>
          <a:p>
            <a:endParaRPr lang="en-US"/>
          </a:p>
        </p:txBody>
      </p:sp>
      <p:sp>
        <p:nvSpPr>
          <p:cNvPr id="6" name="Freeform 6"/>
          <p:cNvSpPr/>
          <p:nvPr/>
        </p:nvSpPr>
        <p:spPr>
          <a:xfrm rot="5400000">
            <a:off x="-434583" y="-78920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grpSp>
        <p:nvGrpSpPr>
          <p:cNvPr id="7" name="Group 7"/>
          <p:cNvGrpSpPr/>
          <p:nvPr/>
        </p:nvGrpSpPr>
        <p:grpSpPr>
          <a:xfrm>
            <a:off x="1622817" y="7160182"/>
            <a:ext cx="5486049" cy="1323153"/>
            <a:chOff x="0" y="-27431"/>
            <a:chExt cx="1277934" cy="238667"/>
          </a:xfrm>
        </p:grpSpPr>
        <p:sp>
          <p:nvSpPr>
            <p:cNvPr id="8" name="Freeform 8"/>
            <p:cNvSpPr/>
            <p:nvPr/>
          </p:nvSpPr>
          <p:spPr>
            <a:xfrm>
              <a:off x="0" y="0"/>
              <a:ext cx="1277934" cy="191042"/>
            </a:xfrm>
            <a:custGeom>
              <a:avLst/>
              <a:gdLst/>
              <a:ahLst/>
              <a:cxnLst/>
              <a:rect l="l" t="t" r="r" b="b"/>
              <a:pathLst>
                <a:path w="1277934" h="191042">
                  <a:moveTo>
                    <a:pt x="95521" y="0"/>
                  </a:moveTo>
                  <a:lnTo>
                    <a:pt x="1182414" y="0"/>
                  </a:lnTo>
                  <a:cubicBezTo>
                    <a:pt x="1207747" y="0"/>
                    <a:pt x="1232043" y="10064"/>
                    <a:pt x="1249957" y="27977"/>
                  </a:cubicBezTo>
                  <a:cubicBezTo>
                    <a:pt x="1267871" y="45891"/>
                    <a:pt x="1277934" y="70187"/>
                    <a:pt x="1277934" y="95521"/>
                  </a:cubicBezTo>
                  <a:lnTo>
                    <a:pt x="1277934" y="95521"/>
                  </a:lnTo>
                  <a:cubicBezTo>
                    <a:pt x="1277934" y="120854"/>
                    <a:pt x="1267871" y="145151"/>
                    <a:pt x="1249957" y="163064"/>
                  </a:cubicBezTo>
                  <a:cubicBezTo>
                    <a:pt x="1232043" y="180978"/>
                    <a:pt x="1207747" y="191042"/>
                    <a:pt x="1182414" y="191042"/>
                  </a:cubicBezTo>
                  <a:lnTo>
                    <a:pt x="95521" y="191042"/>
                  </a:lnTo>
                  <a:cubicBezTo>
                    <a:pt x="70187" y="191042"/>
                    <a:pt x="45891" y="180978"/>
                    <a:pt x="27977" y="163064"/>
                  </a:cubicBezTo>
                  <a:cubicBezTo>
                    <a:pt x="10064" y="145151"/>
                    <a:pt x="0" y="120854"/>
                    <a:pt x="0" y="95521"/>
                  </a:cubicBezTo>
                  <a:lnTo>
                    <a:pt x="0" y="95521"/>
                  </a:lnTo>
                  <a:cubicBezTo>
                    <a:pt x="0" y="70187"/>
                    <a:pt x="10064" y="45891"/>
                    <a:pt x="27977" y="27977"/>
                  </a:cubicBezTo>
                  <a:cubicBezTo>
                    <a:pt x="45891" y="10064"/>
                    <a:pt x="70187" y="0"/>
                    <a:pt x="95521" y="0"/>
                  </a:cubicBezTo>
                  <a:close/>
                </a:path>
              </a:pathLst>
            </a:custGeom>
            <a:solidFill>
              <a:srgbClr val="052A47"/>
            </a:solidFill>
          </p:spPr>
          <p:txBody>
            <a:bodyPr/>
            <a:lstStyle/>
            <a:p>
              <a:endParaRPr lang="en-US"/>
            </a:p>
          </p:txBody>
        </p:sp>
        <p:sp>
          <p:nvSpPr>
            <p:cNvPr id="9" name="TextBox 9"/>
            <p:cNvSpPr txBox="1"/>
            <p:nvPr/>
          </p:nvSpPr>
          <p:spPr>
            <a:xfrm>
              <a:off x="0" y="-27431"/>
              <a:ext cx="1277934" cy="238667"/>
            </a:xfrm>
            <a:prstGeom prst="rect">
              <a:avLst/>
            </a:prstGeom>
          </p:spPr>
          <p:txBody>
            <a:bodyPr lIns="50800" tIns="50800" rIns="50800" bIns="50800" rtlCol="0" anchor="ctr"/>
            <a:lstStyle/>
            <a:p>
              <a:pPr marL="0" lvl="0" indent="0" algn="ctr">
                <a:lnSpc>
                  <a:spcPts val="3500"/>
                </a:lnSpc>
                <a:spcBef>
                  <a:spcPct val="0"/>
                </a:spcBef>
              </a:pPr>
              <a:r>
                <a:rPr lang="en-US" sz="2500" spc="112" dirty="0">
                  <a:solidFill>
                    <a:srgbClr val="FFFFFF"/>
                  </a:solidFill>
                  <a:latin typeface="Montserrat"/>
                  <a:ea typeface="Montserrat"/>
                  <a:cs typeface="Montserrat"/>
                  <a:sym typeface="Montserrat"/>
                </a:rPr>
                <a:t>By Muhammed Althaf K (12205672)</a:t>
              </a:r>
            </a:p>
          </p:txBody>
        </p:sp>
      </p:grpSp>
      <p:sp>
        <p:nvSpPr>
          <p:cNvPr id="10" name="TextBox 10"/>
          <p:cNvSpPr txBox="1"/>
          <p:nvPr/>
        </p:nvSpPr>
        <p:spPr>
          <a:xfrm>
            <a:off x="1689456" y="5799256"/>
            <a:ext cx="12652870" cy="1276350"/>
          </a:xfrm>
          <a:prstGeom prst="rect">
            <a:avLst/>
          </a:prstGeom>
        </p:spPr>
        <p:txBody>
          <a:bodyPr lIns="0" tIns="0" rIns="0" bIns="0" rtlCol="0" anchor="t">
            <a:spAutoFit/>
          </a:bodyPr>
          <a:lstStyle/>
          <a:p>
            <a:pPr algn="l">
              <a:lnSpc>
                <a:spcPts val="5040"/>
              </a:lnSpc>
            </a:pPr>
            <a:r>
              <a:rPr lang="en-US" sz="4200" b="1" spc="138">
                <a:solidFill>
                  <a:srgbClr val="4DBF38"/>
                </a:solidFill>
                <a:latin typeface="Montserrat Classic Bold"/>
                <a:ea typeface="Montserrat Classic Bold"/>
                <a:cs typeface="Montserrat Classic Bold"/>
                <a:sym typeface="Montserrat Classic Bold"/>
              </a:rPr>
              <a:t>GeeksforGeeks Complete Machine Learning</a:t>
            </a:r>
          </a:p>
          <a:p>
            <a:pPr algn="l">
              <a:lnSpc>
                <a:spcPts val="5040"/>
              </a:lnSpc>
            </a:pPr>
            <a:r>
              <a:rPr lang="en-US" sz="4200" b="1" spc="138">
                <a:solidFill>
                  <a:srgbClr val="4DBF38"/>
                </a:solidFill>
                <a:latin typeface="Montserrat Classic Bold"/>
                <a:ea typeface="Montserrat Classic Bold"/>
                <a:cs typeface="Montserrat Classic Bold"/>
                <a:sym typeface="Montserrat Classic Bold"/>
              </a:rPr>
              <a:t> and Data Science Program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086280" y="276225"/>
            <a:ext cx="12560523" cy="752475"/>
          </a:xfrm>
          <a:prstGeom prst="rect">
            <a:avLst/>
          </a:prstGeom>
        </p:spPr>
        <p:txBody>
          <a:bodyPr lIns="0" tIns="0" rIns="0" bIns="0" rtlCol="0" anchor="t">
            <a:spAutoFit/>
          </a:bodyPr>
          <a:lstStyle/>
          <a:p>
            <a:pPr algn="l">
              <a:lnSpc>
                <a:spcPts val="5999"/>
              </a:lnSpc>
            </a:pPr>
            <a:r>
              <a:rPr lang="en-US" sz="4999" b="1" spc="179">
                <a:solidFill>
                  <a:srgbClr val="052A47"/>
                </a:solidFill>
                <a:latin typeface="Montserrat Classic Bold"/>
                <a:ea typeface="Montserrat Classic Bold"/>
                <a:cs typeface="Montserrat Classic Bold"/>
                <a:sym typeface="Montserrat Classic Bold"/>
              </a:rPr>
              <a:t>CERTIFICATION</a:t>
            </a:r>
          </a:p>
        </p:txBody>
      </p:sp>
      <p:pic>
        <p:nvPicPr>
          <p:cNvPr id="7" name="Picture 6">
            <a:extLst>
              <a:ext uri="{FF2B5EF4-FFF2-40B4-BE49-F238E27FC236}">
                <a16:creationId xmlns:a16="http://schemas.microsoft.com/office/drawing/2014/main" id="{F9BE91AA-70FD-5E60-9012-BE86ECB21BD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93243" y="1346775"/>
            <a:ext cx="12101513" cy="852332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019606">
            <a:off x="13580842" y="-1136129"/>
            <a:ext cx="3889773" cy="12559257"/>
          </a:xfrm>
          <a:custGeom>
            <a:avLst/>
            <a:gdLst/>
            <a:ahLst/>
            <a:cxnLst/>
            <a:rect l="l" t="t" r="r" b="b"/>
            <a:pathLst>
              <a:path w="3889773" h="12559257">
                <a:moveTo>
                  <a:pt x="0" y="0"/>
                </a:moveTo>
                <a:lnTo>
                  <a:pt x="3889773" y="0"/>
                </a:lnTo>
                <a:lnTo>
                  <a:pt x="3889773" y="12559258"/>
                </a:lnTo>
                <a:lnTo>
                  <a:pt x="0" y="12559258"/>
                </a:lnTo>
                <a:lnTo>
                  <a:pt x="0" y="0"/>
                </a:lnTo>
                <a:close/>
              </a:path>
            </a:pathLst>
          </a:custGeom>
          <a:blipFill>
            <a:blip r:embed="rId2">
              <a:extLst>
                <a:ext uri="{96DAC541-7B7A-43D3-8B79-37D633B846F1}">
                  <asvg:svgBlip xmlns:asvg="http://schemas.microsoft.com/office/drawing/2016/SVG/main" r:embed="rId3"/>
                </a:ext>
              </a:extLst>
            </a:blip>
            <a:stretch>
              <a:fillRect l="-525794" t="-40822" b="-52994"/>
            </a:stretch>
          </a:blipFill>
        </p:spPr>
        <p:txBody>
          <a:bodyPr/>
          <a:lstStyle/>
          <a:p>
            <a:endParaRPr lang="en-US"/>
          </a:p>
        </p:txBody>
      </p:sp>
      <p:grpSp>
        <p:nvGrpSpPr>
          <p:cNvPr id="3" name="Group 3"/>
          <p:cNvGrpSpPr/>
          <p:nvPr/>
        </p:nvGrpSpPr>
        <p:grpSpPr>
          <a:xfrm>
            <a:off x="13128476" y="-634385"/>
            <a:ext cx="7779807" cy="11555770"/>
            <a:chOff x="0" y="0"/>
            <a:chExt cx="4275074" cy="6350000"/>
          </a:xfrm>
        </p:grpSpPr>
        <p:sp>
          <p:nvSpPr>
            <p:cNvPr id="4" name="Freeform 4"/>
            <p:cNvSpPr/>
            <p:nvPr/>
          </p:nvSpPr>
          <p:spPr>
            <a:xfrm>
              <a:off x="0" y="0"/>
              <a:ext cx="4275074" cy="6350000"/>
            </a:xfrm>
            <a:custGeom>
              <a:avLst/>
              <a:gdLst/>
              <a:ahLst/>
              <a:cxnLst/>
              <a:rect l="l" t="t" r="r" b="b"/>
              <a:pathLst>
                <a:path w="4275074" h="6350000">
                  <a:moveTo>
                    <a:pt x="4275074" y="0"/>
                  </a:moveTo>
                  <a:lnTo>
                    <a:pt x="2736723" y="6350000"/>
                  </a:lnTo>
                  <a:lnTo>
                    <a:pt x="0" y="6350000"/>
                  </a:lnTo>
                  <a:lnTo>
                    <a:pt x="1520444" y="0"/>
                  </a:lnTo>
                  <a:lnTo>
                    <a:pt x="4275074" y="0"/>
                  </a:lnTo>
                  <a:close/>
                </a:path>
              </a:pathLst>
            </a:custGeom>
            <a:solidFill>
              <a:srgbClr val="052A47"/>
            </a:solidFill>
            <a:ln w="12700">
              <a:solidFill>
                <a:srgbClr val="000000"/>
              </a:solidFill>
            </a:ln>
          </p:spPr>
          <p:txBody>
            <a:bodyPr/>
            <a:lstStyle/>
            <a:p>
              <a:endParaRPr lang="en-US"/>
            </a:p>
          </p:txBody>
        </p:sp>
      </p:grpSp>
      <p:sp>
        <p:nvSpPr>
          <p:cNvPr id="5" name="TextBox 5"/>
          <p:cNvSpPr txBox="1"/>
          <p:nvPr/>
        </p:nvSpPr>
        <p:spPr>
          <a:xfrm>
            <a:off x="1409603" y="3126958"/>
            <a:ext cx="11718873" cy="6131342"/>
          </a:xfrm>
          <a:prstGeom prst="rect">
            <a:avLst/>
          </a:prstGeom>
        </p:spPr>
        <p:txBody>
          <a:bodyPr lIns="0" tIns="0" rIns="0" bIns="0" rtlCol="0" anchor="t">
            <a:spAutoFit/>
          </a:bodyPr>
          <a:lstStyle/>
          <a:p>
            <a:pPr marL="692735" lvl="1" indent="-346367" algn="l">
              <a:lnSpc>
                <a:spcPts val="4492"/>
              </a:lnSpc>
              <a:buFont typeface="Arial"/>
              <a:buChar char="•"/>
            </a:pPr>
            <a:r>
              <a:rPr lang="en-US" sz="3208" b="1" spc="144">
                <a:solidFill>
                  <a:srgbClr val="2A2E3A"/>
                </a:solidFill>
                <a:latin typeface="Montserrat Classic Bold"/>
                <a:ea typeface="Montserrat Classic Bold"/>
                <a:cs typeface="Montserrat Classic Bold"/>
                <a:sym typeface="Montserrat Classic Bold"/>
              </a:rPr>
              <a:t>Objective: Analyze heart disease data using data visualization techniques</a:t>
            </a:r>
          </a:p>
          <a:p>
            <a:pPr marL="692735" lvl="1" indent="-346367" algn="l">
              <a:lnSpc>
                <a:spcPts val="4492"/>
              </a:lnSpc>
              <a:buFont typeface="Arial"/>
              <a:buChar char="•"/>
            </a:pPr>
            <a:r>
              <a:rPr lang="en-US" sz="3208" b="1" spc="144">
                <a:solidFill>
                  <a:srgbClr val="2A2E3A"/>
                </a:solidFill>
                <a:latin typeface="Montserrat Classic Bold"/>
                <a:ea typeface="Montserrat Classic Bold"/>
                <a:cs typeface="Montserrat Classic Bold"/>
                <a:sym typeface="Montserrat Classic Bold"/>
              </a:rPr>
              <a:t>Goal: Identify patterns and relationships in the data to understand heart disease better</a:t>
            </a:r>
          </a:p>
          <a:p>
            <a:pPr marL="692735" lvl="1" indent="-346367" algn="l">
              <a:lnSpc>
                <a:spcPts val="4492"/>
              </a:lnSpc>
              <a:buFont typeface="Arial"/>
              <a:buChar char="•"/>
            </a:pPr>
            <a:r>
              <a:rPr lang="en-US" sz="3208" b="1" spc="144">
                <a:solidFill>
                  <a:srgbClr val="2A2E3A"/>
                </a:solidFill>
                <a:latin typeface="Montserrat Classic Bold"/>
                <a:ea typeface="Montserrat Classic Bold"/>
                <a:cs typeface="Montserrat Classic Bold"/>
                <a:sym typeface="Montserrat Classic Bold"/>
              </a:rPr>
              <a:t>Tools Used: </a:t>
            </a:r>
          </a:p>
          <a:p>
            <a:pPr marL="1385469" lvl="2" indent="-461823" algn="l">
              <a:lnSpc>
                <a:spcPts val="4492"/>
              </a:lnSpc>
              <a:buFont typeface="Arial"/>
              <a:buChar char="⚬"/>
            </a:pPr>
            <a:r>
              <a:rPr lang="en-US" sz="3208" b="1" spc="144">
                <a:solidFill>
                  <a:srgbClr val="2A2E3A"/>
                </a:solidFill>
                <a:latin typeface="Montserrat Classic Bold"/>
                <a:ea typeface="Montserrat Classic Bold"/>
                <a:cs typeface="Montserrat Classic Bold"/>
                <a:sym typeface="Montserrat Classic Bold"/>
              </a:rPr>
              <a:t>Pandas: For data manipulation.</a:t>
            </a:r>
          </a:p>
          <a:p>
            <a:pPr marL="1385469" lvl="2" indent="-461823" algn="l">
              <a:lnSpc>
                <a:spcPts val="4492"/>
              </a:lnSpc>
              <a:buFont typeface="Arial"/>
              <a:buChar char="⚬"/>
            </a:pPr>
            <a:r>
              <a:rPr lang="en-US" sz="3208" b="1" spc="144">
                <a:solidFill>
                  <a:srgbClr val="2A2E3A"/>
                </a:solidFill>
                <a:latin typeface="Montserrat Classic Bold"/>
                <a:ea typeface="Montserrat Classic Bold"/>
                <a:cs typeface="Montserrat Classic Bold"/>
                <a:sym typeface="Montserrat Classic Bold"/>
              </a:rPr>
              <a:t>Seaborn,Matplotlib: For creating visualizations</a:t>
            </a:r>
          </a:p>
          <a:p>
            <a:pPr marL="692735" lvl="1" indent="-346367" algn="l">
              <a:lnSpc>
                <a:spcPts val="4492"/>
              </a:lnSpc>
              <a:buFont typeface="Arial"/>
              <a:buChar char="•"/>
            </a:pPr>
            <a:r>
              <a:rPr lang="en-US" sz="3208" b="1" spc="144">
                <a:solidFill>
                  <a:srgbClr val="2A2E3A"/>
                </a:solidFill>
                <a:latin typeface="Montserrat Classic Bold"/>
                <a:ea typeface="Montserrat Classic Bold"/>
                <a:cs typeface="Montserrat Classic Bold"/>
                <a:sym typeface="Montserrat Classic Bold"/>
              </a:rPr>
              <a:t>Visualizations: DistPlots, Pie Charts, Violin Plots,  Heatmaps, JointPlot, PairPlot</a:t>
            </a:r>
          </a:p>
          <a:p>
            <a:pPr algn="l">
              <a:lnSpc>
                <a:spcPts val="4212"/>
              </a:lnSpc>
            </a:pPr>
            <a:endParaRPr lang="en-US" sz="3208" b="1" spc="144">
              <a:solidFill>
                <a:srgbClr val="2A2E3A"/>
              </a:solidFill>
              <a:latin typeface="Montserrat Classic Bold"/>
              <a:ea typeface="Montserrat Classic Bold"/>
              <a:cs typeface="Montserrat Classic Bold"/>
              <a:sym typeface="Montserrat Classic Bold"/>
            </a:endParaRPr>
          </a:p>
        </p:txBody>
      </p:sp>
      <p:sp>
        <p:nvSpPr>
          <p:cNvPr id="6" name="TextBox 6"/>
          <p:cNvSpPr txBox="1"/>
          <p:nvPr/>
        </p:nvSpPr>
        <p:spPr>
          <a:xfrm>
            <a:off x="1868161" y="1887110"/>
            <a:ext cx="9215417" cy="1078156"/>
          </a:xfrm>
          <a:prstGeom prst="rect">
            <a:avLst/>
          </a:prstGeom>
        </p:spPr>
        <p:txBody>
          <a:bodyPr lIns="0" tIns="0" rIns="0" bIns="0" rtlCol="0" anchor="t">
            <a:spAutoFit/>
          </a:bodyPr>
          <a:lstStyle/>
          <a:p>
            <a:pPr marL="0" lvl="0" indent="0" algn="l">
              <a:lnSpc>
                <a:spcPts val="8496"/>
              </a:lnSpc>
              <a:spcBef>
                <a:spcPct val="0"/>
              </a:spcBef>
            </a:pPr>
            <a:r>
              <a:rPr lang="en-US" sz="7080" b="1" spc="254">
                <a:solidFill>
                  <a:srgbClr val="2A2E3A"/>
                </a:solidFill>
                <a:latin typeface="Montserrat Classic Bold"/>
                <a:ea typeface="Montserrat Classic Bold"/>
                <a:cs typeface="Montserrat Classic Bold"/>
                <a:sym typeface="Montserrat Classic Bold"/>
              </a:rPr>
              <a:t>Introduction</a:t>
            </a:r>
          </a:p>
        </p:txBody>
      </p:sp>
      <p:grpSp>
        <p:nvGrpSpPr>
          <p:cNvPr id="7" name="Group 7"/>
          <p:cNvGrpSpPr/>
          <p:nvPr/>
        </p:nvGrpSpPr>
        <p:grpSpPr>
          <a:xfrm>
            <a:off x="12411022" y="5331077"/>
            <a:ext cx="2945028" cy="5777885"/>
            <a:chOff x="0" y="0"/>
            <a:chExt cx="406400" cy="797321"/>
          </a:xfrm>
        </p:grpSpPr>
        <p:sp>
          <p:nvSpPr>
            <p:cNvPr id="8" name="Freeform 8"/>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4DBF38"/>
            </a:solidFill>
            <a:ln cap="sq">
              <a:noFill/>
              <a:prstDash val="solid"/>
              <a:miter/>
            </a:ln>
          </p:spPr>
          <p:txBody>
            <a:bodyPr/>
            <a:lstStyle/>
            <a:p>
              <a:endParaRPr lang="en-US"/>
            </a:p>
          </p:txBody>
        </p:sp>
        <p:sp>
          <p:nvSpPr>
            <p:cNvPr id="9" name="TextBox 9"/>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371921" y="-634385"/>
            <a:ext cx="2743842" cy="5383177"/>
            <a:chOff x="0" y="0"/>
            <a:chExt cx="406400" cy="797321"/>
          </a:xfrm>
        </p:grpSpPr>
        <p:sp>
          <p:nvSpPr>
            <p:cNvPr id="11" name="Freeform 11"/>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80D12A"/>
            </a:solidFill>
            <a:ln cap="sq">
              <a:noFill/>
              <a:prstDash val="solid"/>
              <a:miter/>
            </a:ln>
          </p:spPr>
          <p:txBody>
            <a:bodyPr/>
            <a:lstStyle/>
            <a:p>
              <a:endParaRPr lang="en-US"/>
            </a:p>
          </p:txBody>
        </p:sp>
        <p:sp>
          <p:nvSpPr>
            <p:cNvPr id="12" name="TextBox 12"/>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15356049" y="-373209"/>
            <a:ext cx="714563" cy="1401909"/>
            <a:chOff x="0" y="0"/>
            <a:chExt cx="406400" cy="797321"/>
          </a:xfrm>
        </p:grpSpPr>
        <p:sp>
          <p:nvSpPr>
            <p:cNvPr id="14" name="Freeform 14"/>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80D12A"/>
            </a:solidFill>
            <a:ln cap="sq">
              <a:noFill/>
              <a:prstDash val="solid"/>
              <a:miter/>
            </a:ln>
          </p:spPr>
          <p:txBody>
            <a:bodyPr/>
            <a:lstStyle/>
            <a:p>
              <a:endParaRPr lang="en-US"/>
            </a:p>
          </p:txBody>
        </p:sp>
        <p:sp>
          <p:nvSpPr>
            <p:cNvPr id="15" name="TextBox 15"/>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231041">
            <a:off x="13216914" y="-2949524"/>
            <a:ext cx="3889773" cy="12559257"/>
          </a:xfrm>
          <a:custGeom>
            <a:avLst/>
            <a:gdLst/>
            <a:ahLst/>
            <a:cxnLst/>
            <a:rect l="l" t="t" r="r" b="b"/>
            <a:pathLst>
              <a:path w="3889773" h="12559257">
                <a:moveTo>
                  <a:pt x="0" y="0"/>
                </a:moveTo>
                <a:lnTo>
                  <a:pt x="3889773" y="0"/>
                </a:lnTo>
                <a:lnTo>
                  <a:pt x="3889773" y="12559257"/>
                </a:lnTo>
                <a:lnTo>
                  <a:pt x="0" y="12559257"/>
                </a:lnTo>
                <a:lnTo>
                  <a:pt x="0" y="0"/>
                </a:lnTo>
                <a:close/>
              </a:path>
            </a:pathLst>
          </a:custGeom>
          <a:blipFill>
            <a:blip r:embed="rId2">
              <a:extLst>
                <a:ext uri="{96DAC541-7B7A-43D3-8B79-37D633B846F1}">
                  <asvg:svgBlip xmlns:asvg="http://schemas.microsoft.com/office/drawing/2016/SVG/main" r:embed="rId3"/>
                </a:ext>
              </a:extLst>
            </a:blip>
            <a:stretch>
              <a:fillRect l="-525794" t="-40822" b="-52994"/>
            </a:stretch>
          </a:blipFill>
        </p:spPr>
        <p:txBody>
          <a:bodyPr/>
          <a:lstStyle/>
          <a:p>
            <a:endParaRPr lang="en-US"/>
          </a:p>
        </p:txBody>
      </p:sp>
      <p:grpSp>
        <p:nvGrpSpPr>
          <p:cNvPr id="3" name="Group 3"/>
          <p:cNvGrpSpPr/>
          <p:nvPr/>
        </p:nvGrpSpPr>
        <p:grpSpPr>
          <a:xfrm rot="-2468074">
            <a:off x="13918097" y="4882637"/>
            <a:ext cx="8739806" cy="5324588"/>
            <a:chOff x="0" y="0"/>
            <a:chExt cx="2301842" cy="1402361"/>
          </a:xfrm>
        </p:grpSpPr>
        <p:sp>
          <p:nvSpPr>
            <p:cNvPr id="4" name="Freeform 4"/>
            <p:cNvSpPr/>
            <p:nvPr/>
          </p:nvSpPr>
          <p:spPr>
            <a:xfrm>
              <a:off x="0" y="0"/>
              <a:ext cx="2301842" cy="1402361"/>
            </a:xfrm>
            <a:custGeom>
              <a:avLst/>
              <a:gdLst/>
              <a:ahLst/>
              <a:cxnLst/>
              <a:rect l="l" t="t" r="r" b="b"/>
              <a:pathLst>
                <a:path w="2301842" h="1402361">
                  <a:moveTo>
                    <a:pt x="0" y="0"/>
                  </a:moveTo>
                  <a:lnTo>
                    <a:pt x="2301842" y="0"/>
                  </a:lnTo>
                  <a:lnTo>
                    <a:pt x="2301842" y="1402361"/>
                  </a:lnTo>
                  <a:lnTo>
                    <a:pt x="0" y="1402361"/>
                  </a:lnTo>
                  <a:close/>
                </a:path>
              </a:pathLst>
            </a:custGeom>
            <a:solidFill>
              <a:srgbClr val="052A47"/>
            </a:solidFill>
          </p:spPr>
          <p:txBody>
            <a:bodyPr/>
            <a:lstStyle/>
            <a:p>
              <a:endParaRPr lang="en-US"/>
            </a:p>
          </p:txBody>
        </p:sp>
        <p:sp>
          <p:nvSpPr>
            <p:cNvPr id="5" name="TextBox 5"/>
            <p:cNvSpPr txBox="1"/>
            <p:nvPr/>
          </p:nvSpPr>
          <p:spPr>
            <a:xfrm>
              <a:off x="0" y="-47625"/>
              <a:ext cx="2301842" cy="144998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2468074">
            <a:off x="15432242" y="6369777"/>
            <a:ext cx="4609127" cy="4873542"/>
            <a:chOff x="0" y="0"/>
            <a:chExt cx="1213926" cy="1283567"/>
          </a:xfrm>
        </p:grpSpPr>
        <p:sp>
          <p:nvSpPr>
            <p:cNvPr id="7" name="Freeform 7"/>
            <p:cNvSpPr/>
            <p:nvPr/>
          </p:nvSpPr>
          <p:spPr>
            <a:xfrm>
              <a:off x="0" y="0"/>
              <a:ext cx="1213926" cy="1283567"/>
            </a:xfrm>
            <a:custGeom>
              <a:avLst/>
              <a:gdLst/>
              <a:ahLst/>
              <a:cxnLst/>
              <a:rect l="l" t="t" r="r" b="b"/>
              <a:pathLst>
                <a:path w="1213926" h="1283567">
                  <a:moveTo>
                    <a:pt x="0" y="0"/>
                  </a:moveTo>
                  <a:lnTo>
                    <a:pt x="1213926" y="0"/>
                  </a:lnTo>
                  <a:lnTo>
                    <a:pt x="1213926" y="1283567"/>
                  </a:lnTo>
                  <a:lnTo>
                    <a:pt x="0" y="1283567"/>
                  </a:lnTo>
                  <a:close/>
                </a:path>
              </a:pathLst>
            </a:custGeom>
            <a:solidFill>
              <a:srgbClr val="000000">
                <a:alpha val="0"/>
              </a:srgbClr>
            </a:solidFill>
            <a:ln w="38100" cap="sq">
              <a:solidFill>
                <a:srgbClr val="80D12A"/>
              </a:solidFill>
              <a:prstDash val="solid"/>
              <a:miter/>
            </a:ln>
          </p:spPr>
          <p:txBody>
            <a:bodyPr/>
            <a:lstStyle/>
            <a:p>
              <a:endParaRPr lang="en-US"/>
            </a:p>
          </p:txBody>
        </p:sp>
        <p:sp>
          <p:nvSpPr>
            <p:cNvPr id="8" name="TextBox 8"/>
            <p:cNvSpPr txBox="1"/>
            <p:nvPr/>
          </p:nvSpPr>
          <p:spPr>
            <a:xfrm>
              <a:off x="0" y="-47625"/>
              <a:ext cx="1213926" cy="1331192"/>
            </a:xfrm>
            <a:prstGeom prst="rect">
              <a:avLst/>
            </a:prstGeom>
          </p:spPr>
          <p:txBody>
            <a:bodyPr lIns="50800" tIns="50800" rIns="50800" bIns="50800" rtlCol="0" anchor="ctr"/>
            <a:lstStyle/>
            <a:p>
              <a:pPr algn="ctr">
                <a:lnSpc>
                  <a:spcPts val="2659"/>
                </a:lnSpc>
              </a:pPr>
              <a:endParaRPr/>
            </a:p>
          </p:txBody>
        </p:sp>
      </p:grpSp>
      <p:grpSp>
        <p:nvGrpSpPr>
          <p:cNvPr id="9" name="Group 9"/>
          <p:cNvGrpSpPr>
            <a:grpSpLocks noChangeAspect="1"/>
          </p:cNvGrpSpPr>
          <p:nvPr/>
        </p:nvGrpSpPr>
        <p:grpSpPr>
          <a:xfrm>
            <a:off x="10977613" y="0"/>
            <a:ext cx="7310387" cy="8224186"/>
            <a:chOff x="0" y="0"/>
            <a:chExt cx="5370413" cy="6041715"/>
          </a:xfrm>
        </p:grpSpPr>
        <p:sp>
          <p:nvSpPr>
            <p:cNvPr id="10" name="Freeform 10"/>
            <p:cNvSpPr/>
            <p:nvPr/>
          </p:nvSpPr>
          <p:spPr>
            <a:xfrm>
              <a:off x="0" y="0"/>
              <a:ext cx="5370413" cy="6041715"/>
            </a:xfrm>
            <a:custGeom>
              <a:avLst/>
              <a:gdLst/>
              <a:ahLst/>
              <a:cxnLst/>
              <a:rect l="l" t="t" r="r" b="b"/>
              <a:pathLst>
                <a:path w="5370413" h="6041715">
                  <a:moveTo>
                    <a:pt x="5370413" y="0"/>
                  </a:moveTo>
                  <a:lnTo>
                    <a:pt x="5370413" y="6041715"/>
                  </a:lnTo>
                  <a:cubicBezTo>
                    <a:pt x="3580275" y="4027810"/>
                    <a:pt x="1790138" y="2013905"/>
                    <a:pt x="0" y="0"/>
                  </a:cubicBezTo>
                  <a:lnTo>
                    <a:pt x="5370413" y="0"/>
                  </a:lnTo>
                  <a:close/>
                </a:path>
              </a:pathLst>
            </a:custGeom>
            <a:solidFill>
              <a:srgbClr val="2D6064"/>
            </a:solidFill>
          </p:spPr>
          <p:txBody>
            <a:bodyPr/>
            <a:lstStyle/>
            <a:p>
              <a:endParaRPr lang="en-US"/>
            </a:p>
          </p:txBody>
        </p:sp>
        <p:sp>
          <p:nvSpPr>
            <p:cNvPr id="11" name="Freeform 11"/>
            <p:cNvSpPr/>
            <p:nvPr/>
          </p:nvSpPr>
          <p:spPr>
            <a:xfrm>
              <a:off x="0" y="0"/>
              <a:ext cx="5370413" cy="6041715"/>
            </a:xfrm>
            <a:custGeom>
              <a:avLst/>
              <a:gdLst/>
              <a:ahLst/>
              <a:cxnLst/>
              <a:rect l="l" t="t" r="r" b="b"/>
              <a:pathLst>
                <a:path w="5370413" h="6041715">
                  <a:moveTo>
                    <a:pt x="5370413" y="0"/>
                  </a:moveTo>
                  <a:lnTo>
                    <a:pt x="5370413" y="6041715"/>
                  </a:lnTo>
                  <a:cubicBezTo>
                    <a:pt x="3580275" y="4027810"/>
                    <a:pt x="1790138" y="2013905"/>
                    <a:pt x="0" y="0"/>
                  </a:cubicBezTo>
                  <a:lnTo>
                    <a:pt x="5370413" y="0"/>
                  </a:lnTo>
                  <a:close/>
                </a:path>
              </a:pathLst>
            </a:custGeom>
            <a:solidFill>
              <a:srgbClr val="052A47"/>
            </a:solidFill>
            <a:ln w="12700">
              <a:solidFill>
                <a:srgbClr val="000000"/>
              </a:solidFill>
            </a:ln>
          </p:spPr>
          <p:txBody>
            <a:bodyPr/>
            <a:lstStyle/>
            <a:p>
              <a:endParaRPr lang="en-US"/>
            </a:p>
          </p:txBody>
        </p:sp>
      </p:grpSp>
      <p:sp>
        <p:nvSpPr>
          <p:cNvPr id="12" name="Freeform 12"/>
          <p:cNvSpPr/>
          <p:nvPr/>
        </p:nvSpPr>
        <p:spPr>
          <a:xfrm>
            <a:off x="-3688142" y="6845658"/>
            <a:ext cx="6882684" cy="6882684"/>
          </a:xfrm>
          <a:custGeom>
            <a:avLst/>
            <a:gdLst/>
            <a:ahLst/>
            <a:cxnLst/>
            <a:rect l="l" t="t" r="r" b="b"/>
            <a:pathLst>
              <a:path w="6882684" h="6882684">
                <a:moveTo>
                  <a:pt x="0" y="0"/>
                </a:moveTo>
                <a:lnTo>
                  <a:pt x="6882684" y="0"/>
                </a:lnTo>
                <a:lnTo>
                  <a:pt x="6882684" y="6882684"/>
                </a:lnTo>
                <a:lnTo>
                  <a:pt x="0" y="688268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13" name="TextBox 13"/>
          <p:cNvSpPr txBox="1"/>
          <p:nvPr/>
        </p:nvSpPr>
        <p:spPr>
          <a:xfrm>
            <a:off x="4777397" y="3321146"/>
            <a:ext cx="11902795" cy="5262626"/>
          </a:xfrm>
          <a:prstGeom prst="rect">
            <a:avLst/>
          </a:prstGeom>
        </p:spPr>
        <p:txBody>
          <a:bodyPr lIns="0" tIns="0" rIns="0" bIns="0" rtlCol="0" anchor="t">
            <a:spAutoFit/>
          </a:bodyPr>
          <a:lstStyle/>
          <a:p>
            <a:pPr algn="l">
              <a:lnSpc>
                <a:spcPts val="6168"/>
              </a:lnSpc>
            </a:pPr>
            <a:r>
              <a:rPr lang="en-US" sz="3099" b="1" spc="139">
                <a:solidFill>
                  <a:srgbClr val="2A2E3A"/>
                </a:solidFill>
                <a:latin typeface="Montserrat Classic Bold"/>
                <a:ea typeface="Montserrat Classic Bold"/>
                <a:cs typeface="Montserrat Classic Bold"/>
                <a:sym typeface="Montserrat Classic Bold"/>
              </a:rPr>
              <a:t>Age (DistPlot)</a:t>
            </a:r>
          </a:p>
          <a:p>
            <a:pPr algn="l">
              <a:lnSpc>
                <a:spcPts val="6168"/>
              </a:lnSpc>
            </a:pPr>
            <a:r>
              <a:rPr lang="en-US" sz="3099" b="1" spc="139">
                <a:solidFill>
                  <a:srgbClr val="2A2E3A"/>
                </a:solidFill>
                <a:latin typeface="Montserrat Classic Bold"/>
                <a:ea typeface="Montserrat Classic Bold"/>
                <a:cs typeface="Montserrat Classic Bold"/>
                <a:sym typeface="Montserrat Classic Bold"/>
              </a:rPr>
              <a:t>Categorical Columns (Pie Charts)</a:t>
            </a:r>
          </a:p>
          <a:p>
            <a:pPr algn="l">
              <a:lnSpc>
                <a:spcPts val="6168"/>
              </a:lnSpc>
            </a:pPr>
            <a:r>
              <a:rPr lang="en-US" sz="3099" b="1" spc="139">
                <a:solidFill>
                  <a:srgbClr val="2A2E3A"/>
                </a:solidFill>
                <a:latin typeface="Montserrat Classic Bold"/>
                <a:ea typeface="Montserrat Classic Bold"/>
                <a:cs typeface="Montserrat Classic Bold"/>
                <a:sym typeface="Montserrat Classic Bold"/>
              </a:rPr>
              <a:t>ViolinPlot</a:t>
            </a:r>
          </a:p>
          <a:p>
            <a:pPr algn="l">
              <a:lnSpc>
                <a:spcPts val="6168"/>
              </a:lnSpc>
            </a:pPr>
            <a:r>
              <a:rPr lang="en-US" sz="3099" b="1" spc="139">
                <a:solidFill>
                  <a:srgbClr val="2A2E3A"/>
                </a:solidFill>
                <a:latin typeface="Montserrat Classic Bold"/>
                <a:ea typeface="Montserrat Classic Bold"/>
                <a:cs typeface="Montserrat Classic Bold"/>
                <a:sym typeface="Montserrat Classic Bold"/>
              </a:rPr>
              <a:t>Correlation (HeatMap)</a:t>
            </a:r>
          </a:p>
          <a:p>
            <a:pPr algn="l">
              <a:lnSpc>
                <a:spcPts val="6168"/>
              </a:lnSpc>
            </a:pPr>
            <a:r>
              <a:rPr lang="en-US" sz="3099" b="1" spc="139">
                <a:solidFill>
                  <a:srgbClr val="2A2E3A"/>
                </a:solidFill>
                <a:latin typeface="Montserrat Classic Bold"/>
                <a:ea typeface="Montserrat Classic Bold"/>
                <a:cs typeface="Montserrat Classic Bold"/>
                <a:sym typeface="Montserrat Classic Bold"/>
              </a:rPr>
              <a:t>Correlation (PairPlot)</a:t>
            </a:r>
          </a:p>
          <a:p>
            <a:pPr algn="l">
              <a:lnSpc>
                <a:spcPts val="6168"/>
              </a:lnSpc>
            </a:pPr>
            <a:r>
              <a:rPr lang="en-US" sz="3099" b="1" spc="139">
                <a:solidFill>
                  <a:srgbClr val="2A2E3A"/>
                </a:solidFill>
                <a:latin typeface="Montserrat Classic Bold"/>
                <a:ea typeface="Montserrat Classic Bold"/>
                <a:cs typeface="Montserrat Classic Bold"/>
                <a:sym typeface="Montserrat Classic Bold"/>
              </a:rPr>
              <a:t>Correlation - (JointPlot)</a:t>
            </a:r>
          </a:p>
          <a:p>
            <a:pPr marL="0" lvl="0" indent="0" algn="l">
              <a:lnSpc>
                <a:spcPts val="4975"/>
              </a:lnSpc>
            </a:pPr>
            <a:endParaRPr lang="en-US" sz="3099" b="1" spc="139">
              <a:solidFill>
                <a:srgbClr val="2A2E3A"/>
              </a:solidFill>
              <a:latin typeface="Montserrat Classic Bold"/>
              <a:ea typeface="Montserrat Classic Bold"/>
              <a:cs typeface="Montserrat Classic Bold"/>
              <a:sym typeface="Montserrat Classic Bold"/>
            </a:endParaRPr>
          </a:p>
        </p:txBody>
      </p:sp>
      <p:sp>
        <p:nvSpPr>
          <p:cNvPr id="14" name="TextBox 14"/>
          <p:cNvSpPr txBox="1"/>
          <p:nvPr/>
        </p:nvSpPr>
        <p:spPr>
          <a:xfrm>
            <a:off x="3191204" y="1960910"/>
            <a:ext cx="8517012" cy="1072727"/>
          </a:xfrm>
          <a:prstGeom prst="rect">
            <a:avLst/>
          </a:prstGeom>
        </p:spPr>
        <p:txBody>
          <a:bodyPr lIns="0" tIns="0" rIns="0" bIns="0" rtlCol="0" anchor="t">
            <a:spAutoFit/>
          </a:bodyPr>
          <a:lstStyle/>
          <a:p>
            <a:pPr marL="0" lvl="0" indent="0" algn="l">
              <a:lnSpc>
                <a:spcPts val="8497"/>
              </a:lnSpc>
              <a:spcBef>
                <a:spcPct val="0"/>
              </a:spcBef>
            </a:pPr>
            <a:r>
              <a:rPr lang="en-US" sz="7080" b="1" spc="254">
                <a:solidFill>
                  <a:srgbClr val="2A2E3A"/>
                </a:solidFill>
                <a:latin typeface="Montserrat Classic Bold"/>
                <a:ea typeface="Montserrat Classic Bold"/>
                <a:cs typeface="Montserrat Classic Bold"/>
                <a:sym typeface="Montserrat Classic Bold"/>
              </a:rPr>
              <a:t>Project Contents</a:t>
            </a:r>
          </a:p>
        </p:txBody>
      </p:sp>
      <p:sp>
        <p:nvSpPr>
          <p:cNvPr id="15" name="TextBox 15"/>
          <p:cNvSpPr txBox="1"/>
          <p:nvPr/>
        </p:nvSpPr>
        <p:spPr>
          <a:xfrm>
            <a:off x="3517874" y="3311621"/>
            <a:ext cx="703339" cy="4652519"/>
          </a:xfrm>
          <a:prstGeom prst="rect">
            <a:avLst/>
          </a:prstGeom>
        </p:spPr>
        <p:txBody>
          <a:bodyPr lIns="0" tIns="0" rIns="0" bIns="0" rtlCol="0" anchor="t">
            <a:spAutoFit/>
          </a:bodyPr>
          <a:lstStyle/>
          <a:p>
            <a:pPr algn="l">
              <a:lnSpc>
                <a:spcPts val="6286"/>
              </a:lnSpc>
            </a:pPr>
            <a:r>
              <a:rPr lang="en-US" sz="3159" b="1" spc="142">
                <a:solidFill>
                  <a:srgbClr val="4DBF38"/>
                </a:solidFill>
                <a:latin typeface="Montserrat Classic Bold"/>
                <a:ea typeface="Montserrat Classic Bold"/>
                <a:cs typeface="Montserrat Classic Bold"/>
                <a:sym typeface="Montserrat Classic Bold"/>
              </a:rPr>
              <a:t>01</a:t>
            </a:r>
          </a:p>
          <a:p>
            <a:pPr algn="l">
              <a:lnSpc>
                <a:spcPts val="6286"/>
              </a:lnSpc>
            </a:pPr>
            <a:r>
              <a:rPr lang="en-US" sz="3159" b="1" spc="142">
                <a:solidFill>
                  <a:srgbClr val="4DBF38"/>
                </a:solidFill>
                <a:latin typeface="Montserrat Classic Bold"/>
                <a:ea typeface="Montserrat Classic Bold"/>
                <a:cs typeface="Montserrat Classic Bold"/>
                <a:sym typeface="Montserrat Classic Bold"/>
              </a:rPr>
              <a:t>02</a:t>
            </a:r>
          </a:p>
          <a:p>
            <a:pPr algn="l">
              <a:lnSpc>
                <a:spcPts val="6286"/>
              </a:lnSpc>
            </a:pPr>
            <a:r>
              <a:rPr lang="en-US" sz="3159" b="1" spc="142">
                <a:solidFill>
                  <a:srgbClr val="4DBF38"/>
                </a:solidFill>
                <a:latin typeface="Montserrat Classic Bold"/>
                <a:ea typeface="Montserrat Classic Bold"/>
                <a:cs typeface="Montserrat Classic Bold"/>
                <a:sym typeface="Montserrat Classic Bold"/>
              </a:rPr>
              <a:t>03</a:t>
            </a:r>
          </a:p>
          <a:p>
            <a:pPr algn="l">
              <a:lnSpc>
                <a:spcPts val="6286"/>
              </a:lnSpc>
            </a:pPr>
            <a:r>
              <a:rPr lang="en-US" sz="3159" b="1" spc="142">
                <a:solidFill>
                  <a:srgbClr val="4DBF38"/>
                </a:solidFill>
                <a:latin typeface="Montserrat Classic Bold"/>
                <a:ea typeface="Montserrat Classic Bold"/>
                <a:cs typeface="Montserrat Classic Bold"/>
                <a:sym typeface="Montserrat Classic Bold"/>
              </a:rPr>
              <a:t>04</a:t>
            </a:r>
          </a:p>
          <a:p>
            <a:pPr algn="l">
              <a:lnSpc>
                <a:spcPts val="6286"/>
              </a:lnSpc>
            </a:pPr>
            <a:r>
              <a:rPr lang="en-US" sz="3159" b="1" spc="142">
                <a:solidFill>
                  <a:srgbClr val="4DBF38"/>
                </a:solidFill>
                <a:latin typeface="Montserrat Classic Bold"/>
                <a:ea typeface="Montserrat Classic Bold"/>
                <a:cs typeface="Montserrat Classic Bold"/>
                <a:sym typeface="Montserrat Classic Bold"/>
              </a:rPr>
              <a:t>05</a:t>
            </a:r>
          </a:p>
          <a:p>
            <a:pPr marL="0" lvl="0" indent="0" algn="l">
              <a:lnSpc>
                <a:spcPts val="6286"/>
              </a:lnSpc>
            </a:pPr>
            <a:r>
              <a:rPr lang="en-US" sz="3159" b="1" spc="142">
                <a:solidFill>
                  <a:srgbClr val="4DBF38"/>
                </a:solidFill>
                <a:latin typeface="Montserrat Classic Bold"/>
                <a:ea typeface="Montserrat Classic Bold"/>
                <a:cs typeface="Montserrat Classic Bold"/>
                <a:sym typeface="Montserrat Classic Bold"/>
              </a:rPr>
              <a:t>06</a:t>
            </a:r>
          </a:p>
        </p:txBody>
      </p:sp>
      <p:sp>
        <p:nvSpPr>
          <p:cNvPr id="16" name="AutoShape 16"/>
          <p:cNvSpPr/>
          <p:nvPr/>
        </p:nvSpPr>
        <p:spPr>
          <a:xfrm flipV="1">
            <a:off x="4501172" y="3549746"/>
            <a:ext cx="0" cy="4776344"/>
          </a:xfrm>
          <a:prstGeom prst="line">
            <a:avLst/>
          </a:prstGeom>
          <a:ln w="38100" cap="flat">
            <a:solidFill>
              <a:srgbClr val="052A47"/>
            </a:solidFill>
            <a:prstDash val="solid"/>
            <a:headEnd type="none" w="sm" len="sm"/>
            <a:tailEnd type="none" w="sm" len="sm"/>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00000">
                <a:alpha val="0"/>
              </a:srgbClr>
            </a:solidFill>
            <a:ln w="609600" cap="sq">
              <a:solidFill>
                <a:srgbClr val="052A47"/>
              </a:solidFill>
              <a:prstDash val="solid"/>
              <a:miter/>
            </a:ln>
          </p:spPr>
          <p:txBody>
            <a:bodyPr/>
            <a:lstStyle/>
            <a:p>
              <a:endParaRPr lang="en-US"/>
            </a:p>
          </p:txBody>
        </p:sp>
        <p:sp>
          <p:nvSpPr>
            <p:cNvPr id="4" name="TextBox 4"/>
            <p:cNvSpPr txBox="1"/>
            <p:nvPr/>
          </p:nvSpPr>
          <p:spPr>
            <a:xfrm>
              <a:off x="0" y="-47625"/>
              <a:ext cx="4816593" cy="275695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8671691" y="1241051"/>
            <a:ext cx="8432782" cy="7513576"/>
          </a:xfrm>
          <a:custGeom>
            <a:avLst/>
            <a:gdLst/>
            <a:ahLst/>
            <a:cxnLst/>
            <a:rect l="l" t="t" r="r" b="b"/>
            <a:pathLst>
              <a:path w="8432782" h="7513576">
                <a:moveTo>
                  <a:pt x="0" y="0"/>
                </a:moveTo>
                <a:lnTo>
                  <a:pt x="8432782" y="0"/>
                </a:lnTo>
                <a:lnTo>
                  <a:pt x="8432782" y="7513576"/>
                </a:lnTo>
                <a:lnTo>
                  <a:pt x="0" y="7513576"/>
                </a:lnTo>
                <a:lnTo>
                  <a:pt x="0" y="0"/>
                </a:lnTo>
                <a:close/>
              </a:path>
            </a:pathLst>
          </a:custGeom>
          <a:blipFill>
            <a:blip r:embed="rId2"/>
            <a:stretch>
              <a:fillRect l="-8173" r="-3517"/>
            </a:stretch>
          </a:blipFill>
        </p:spPr>
        <p:txBody>
          <a:bodyPr/>
          <a:lstStyle/>
          <a:p>
            <a:endParaRPr lang="en-US"/>
          </a:p>
        </p:txBody>
      </p:sp>
      <p:sp>
        <p:nvSpPr>
          <p:cNvPr id="6" name="TextBox 6"/>
          <p:cNvSpPr txBox="1"/>
          <p:nvPr/>
        </p:nvSpPr>
        <p:spPr>
          <a:xfrm>
            <a:off x="1470497" y="2718529"/>
            <a:ext cx="6994922" cy="1516905"/>
          </a:xfrm>
          <a:prstGeom prst="rect">
            <a:avLst/>
          </a:prstGeom>
        </p:spPr>
        <p:txBody>
          <a:bodyPr lIns="0" tIns="0" rIns="0" bIns="0" rtlCol="0" anchor="t">
            <a:spAutoFit/>
          </a:bodyPr>
          <a:lstStyle/>
          <a:p>
            <a:pPr algn="l">
              <a:lnSpc>
                <a:spcPts val="3016"/>
              </a:lnSpc>
            </a:pPr>
            <a:r>
              <a:rPr lang="en-US" sz="2154" b="1" spc="47">
                <a:solidFill>
                  <a:srgbClr val="2A2E3A"/>
                </a:solidFill>
                <a:latin typeface="Montserrat Classic Bold"/>
                <a:ea typeface="Montserrat Classic Bold"/>
                <a:cs typeface="Montserrat Classic Bold"/>
                <a:sym typeface="Montserrat Classic Bold"/>
              </a:rPr>
              <a:t>A DISTPLOT IS A FUNCTION THAT PLOTS A HISTOGRAM, KERNEL DENSITY ESTIMATE (KDE) PLOT, AND/OR RUG PLOT ON A SINGLE FIGURE</a:t>
            </a:r>
          </a:p>
          <a:p>
            <a:pPr marL="0" lvl="0" indent="0" algn="l">
              <a:lnSpc>
                <a:spcPts val="3016"/>
              </a:lnSpc>
              <a:spcBef>
                <a:spcPct val="0"/>
              </a:spcBef>
            </a:pPr>
            <a:endParaRPr lang="en-US" sz="2154" b="1" spc="47">
              <a:solidFill>
                <a:srgbClr val="2A2E3A"/>
              </a:solidFill>
              <a:latin typeface="Montserrat Classic Bold"/>
              <a:ea typeface="Montserrat Classic Bold"/>
              <a:cs typeface="Montserrat Classic Bold"/>
              <a:sym typeface="Montserrat Classic Bold"/>
            </a:endParaRPr>
          </a:p>
        </p:txBody>
      </p:sp>
      <p:sp>
        <p:nvSpPr>
          <p:cNvPr id="7" name="TextBox 7"/>
          <p:cNvSpPr txBox="1"/>
          <p:nvPr/>
        </p:nvSpPr>
        <p:spPr>
          <a:xfrm>
            <a:off x="1470497" y="4593992"/>
            <a:ext cx="6994922" cy="1136015"/>
          </a:xfrm>
          <a:prstGeom prst="rect">
            <a:avLst/>
          </a:prstGeom>
        </p:spPr>
        <p:txBody>
          <a:bodyPr lIns="0" tIns="0" rIns="0" bIns="0" rtlCol="0" anchor="t">
            <a:spAutoFit/>
          </a:bodyPr>
          <a:lstStyle/>
          <a:p>
            <a:pPr algn="l">
              <a:lnSpc>
                <a:spcPts val="3010"/>
              </a:lnSpc>
            </a:pPr>
            <a:r>
              <a:rPr lang="en-US" sz="2150" b="1" spc="47">
                <a:solidFill>
                  <a:srgbClr val="2A2E3A"/>
                </a:solidFill>
                <a:latin typeface="Montserrat Classic Bold"/>
                <a:ea typeface="Montserrat Classic Bold"/>
                <a:cs typeface="Montserrat Classic Bold"/>
                <a:sym typeface="Montserrat Classic Bold"/>
              </a:rPr>
              <a:t>IT IS USED TO VISUALIZE THE DISTRIBUTION OF A SINGLE CONTINUOUS VARIABLE.</a:t>
            </a:r>
          </a:p>
          <a:p>
            <a:pPr marL="0" lvl="0" indent="0" algn="l">
              <a:lnSpc>
                <a:spcPts val="3010"/>
              </a:lnSpc>
              <a:spcBef>
                <a:spcPct val="0"/>
              </a:spcBef>
            </a:pPr>
            <a:endParaRPr lang="en-US" sz="2150" b="1" spc="47">
              <a:solidFill>
                <a:srgbClr val="2A2E3A"/>
              </a:solidFill>
              <a:latin typeface="Montserrat Classic Bold"/>
              <a:ea typeface="Montserrat Classic Bold"/>
              <a:cs typeface="Montserrat Classic Bold"/>
              <a:sym typeface="Montserrat Classic Bold"/>
            </a:endParaRPr>
          </a:p>
        </p:txBody>
      </p:sp>
      <p:sp>
        <p:nvSpPr>
          <p:cNvPr id="8" name="TextBox 8"/>
          <p:cNvSpPr txBox="1"/>
          <p:nvPr/>
        </p:nvSpPr>
        <p:spPr>
          <a:xfrm>
            <a:off x="1470497" y="5711468"/>
            <a:ext cx="6994922" cy="2279015"/>
          </a:xfrm>
          <a:prstGeom prst="rect">
            <a:avLst/>
          </a:prstGeom>
        </p:spPr>
        <p:txBody>
          <a:bodyPr lIns="0" tIns="0" rIns="0" bIns="0" rtlCol="0" anchor="t">
            <a:spAutoFit/>
          </a:bodyPr>
          <a:lstStyle/>
          <a:p>
            <a:pPr algn="l">
              <a:lnSpc>
                <a:spcPts val="3010"/>
              </a:lnSpc>
            </a:pPr>
            <a:r>
              <a:rPr lang="en-US" sz="2150" b="1" spc="47">
                <a:solidFill>
                  <a:srgbClr val="2A2E3A"/>
                </a:solidFill>
                <a:latin typeface="Montserrat Classic Bold"/>
                <a:ea typeface="Montserrat Classic Bold"/>
                <a:cs typeface="Montserrat Classic Bold"/>
                <a:sym typeface="Montserrat Classic Bold"/>
              </a:rPr>
              <a:t>SO AFTER DOING THE VISUALIZATION WE CAN INFER THAT MINIMUM AGE IS AROUND 30 AND MAXIMUM AGE IS AROUND 80. MAXIMUM OF THE DATA FALLS WITHIN THE RANGE OF 40 TO 70.</a:t>
            </a:r>
          </a:p>
          <a:p>
            <a:pPr marL="0" lvl="0" indent="0" algn="l">
              <a:lnSpc>
                <a:spcPts val="3010"/>
              </a:lnSpc>
              <a:spcBef>
                <a:spcPct val="0"/>
              </a:spcBef>
            </a:pPr>
            <a:endParaRPr lang="en-US" sz="2150" b="1" spc="47">
              <a:solidFill>
                <a:srgbClr val="2A2E3A"/>
              </a:solidFill>
              <a:latin typeface="Montserrat Classic Bold"/>
              <a:ea typeface="Montserrat Classic Bold"/>
              <a:cs typeface="Montserrat Classic Bold"/>
              <a:sym typeface="Montserrat Classic Bold"/>
            </a:endParaRPr>
          </a:p>
        </p:txBody>
      </p:sp>
      <p:sp>
        <p:nvSpPr>
          <p:cNvPr id="9" name="TextBox 9"/>
          <p:cNvSpPr txBox="1"/>
          <p:nvPr/>
        </p:nvSpPr>
        <p:spPr>
          <a:xfrm>
            <a:off x="1470497" y="1241051"/>
            <a:ext cx="6853879" cy="750473"/>
          </a:xfrm>
          <a:prstGeom prst="rect">
            <a:avLst/>
          </a:prstGeom>
        </p:spPr>
        <p:txBody>
          <a:bodyPr lIns="0" tIns="0" rIns="0" bIns="0" rtlCol="0" anchor="t">
            <a:spAutoFit/>
          </a:bodyPr>
          <a:lstStyle/>
          <a:p>
            <a:pPr marL="0" lvl="0" indent="0" algn="l">
              <a:lnSpc>
                <a:spcPts val="5966"/>
              </a:lnSpc>
              <a:spcBef>
                <a:spcPct val="0"/>
              </a:spcBef>
            </a:pPr>
            <a:r>
              <a:rPr lang="en-US" sz="4972" b="1" spc="178">
                <a:solidFill>
                  <a:srgbClr val="2A2E3A"/>
                </a:solidFill>
                <a:latin typeface="Montserrat Classic Bold"/>
                <a:ea typeface="Montserrat Classic Bold"/>
                <a:cs typeface="Montserrat Classic Bold"/>
                <a:sym typeface="Montserrat Classic Bold"/>
              </a:rPr>
              <a:t>Age (DistPlot)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00000">
                <a:alpha val="0"/>
              </a:srgbClr>
            </a:solidFill>
            <a:ln w="609600" cap="sq">
              <a:solidFill>
                <a:srgbClr val="052A47"/>
              </a:solidFill>
              <a:prstDash val="solid"/>
              <a:miter/>
            </a:ln>
          </p:spPr>
          <p:txBody>
            <a:bodyPr/>
            <a:lstStyle/>
            <a:p>
              <a:endParaRPr lang="en-US"/>
            </a:p>
          </p:txBody>
        </p:sp>
        <p:sp>
          <p:nvSpPr>
            <p:cNvPr id="4" name="TextBox 4"/>
            <p:cNvSpPr txBox="1"/>
            <p:nvPr/>
          </p:nvSpPr>
          <p:spPr>
            <a:xfrm>
              <a:off x="0" y="-47625"/>
              <a:ext cx="4816593" cy="275695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144000" y="1142443"/>
            <a:ext cx="7647910" cy="7562121"/>
          </a:xfrm>
          <a:custGeom>
            <a:avLst/>
            <a:gdLst/>
            <a:ahLst/>
            <a:cxnLst/>
            <a:rect l="l" t="t" r="r" b="b"/>
            <a:pathLst>
              <a:path w="7647910" h="7562121">
                <a:moveTo>
                  <a:pt x="0" y="0"/>
                </a:moveTo>
                <a:lnTo>
                  <a:pt x="7647910" y="0"/>
                </a:lnTo>
                <a:lnTo>
                  <a:pt x="7647910" y="7562122"/>
                </a:lnTo>
                <a:lnTo>
                  <a:pt x="0" y="7562122"/>
                </a:lnTo>
                <a:lnTo>
                  <a:pt x="0" y="0"/>
                </a:lnTo>
                <a:close/>
              </a:path>
            </a:pathLst>
          </a:custGeom>
          <a:blipFill>
            <a:blip r:embed="rId2"/>
            <a:stretch>
              <a:fillRect l="-10629" r="-80307"/>
            </a:stretch>
          </a:blipFill>
        </p:spPr>
        <p:txBody>
          <a:bodyPr/>
          <a:lstStyle/>
          <a:p>
            <a:endParaRPr lang="en-US"/>
          </a:p>
        </p:txBody>
      </p:sp>
      <p:sp>
        <p:nvSpPr>
          <p:cNvPr id="6" name="TextBox 6"/>
          <p:cNvSpPr txBox="1"/>
          <p:nvPr/>
        </p:nvSpPr>
        <p:spPr>
          <a:xfrm>
            <a:off x="1470497" y="2718474"/>
            <a:ext cx="6994922" cy="1517015"/>
          </a:xfrm>
          <a:prstGeom prst="rect">
            <a:avLst/>
          </a:prstGeom>
        </p:spPr>
        <p:txBody>
          <a:bodyPr lIns="0" tIns="0" rIns="0" bIns="0" rtlCol="0" anchor="t">
            <a:spAutoFit/>
          </a:bodyPr>
          <a:lstStyle/>
          <a:p>
            <a:pPr algn="l">
              <a:lnSpc>
                <a:spcPts val="3010"/>
              </a:lnSpc>
            </a:pPr>
            <a:r>
              <a:rPr lang="en-US" sz="2150" b="1" spc="47">
                <a:solidFill>
                  <a:srgbClr val="2A2E3A"/>
                </a:solidFill>
                <a:latin typeface="Montserrat Classic Bold"/>
                <a:ea typeface="Montserrat Classic Bold"/>
                <a:cs typeface="Montserrat Classic Bold"/>
                <a:sym typeface="Montserrat Classic Bold"/>
              </a:rPr>
              <a:t>A PIE CHART IS A CIRCULAR STATISTICAL GRAPHIC, WHICH IS DIVIDED INTO SLICES TO ILLUSTRATE NUMERICAL PROPORTION</a:t>
            </a:r>
          </a:p>
          <a:p>
            <a:pPr marL="0" lvl="0" indent="0" algn="l">
              <a:lnSpc>
                <a:spcPts val="3010"/>
              </a:lnSpc>
              <a:spcBef>
                <a:spcPct val="0"/>
              </a:spcBef>
            </a:pPr>
            <a:endParaRPr lang="en-US" sz="2150" b="1" spc="47">
              <a:solidFill>
                <a:srgbClr val="2A2E3A"/>
              </a:solidFill>
              <a:latin typeface="Montserrat Classic Bold"/>
              <a:ea typeface="Montserrat Classic Bold"/>
              <a:cs typeface="Montserrat Classic Bold"/>
              <a:sym typeface="Montserrat Classic Bold"/>
            </a:endParaRPr>
          </a:p>
        </p:txBody>
      </p:sp>
      <p:sp>
        <p:nvSpPr>
          <p:cNvPr id="7" name="TextBox 7"/>
          <p:cNvSpPr txBox="1"/>
          <p:nvPr/>
        </p:nvSpPr>
        <p:spPr>
          <a:xfrm>
            <a:off x="1470497" y="4212992"/>
            <a:ext cx="6994922" cy="1898015"/>
          </a:xfrm>
          <a:prstGeom prst="rect">
            <a:avLst/>
          </a:prstGeom>
        </p:spPr>
        <p:txBody>
          <a:bodyPr lIns="0" tIns="0" rIns="0" bIns="0" rtlCol="0" anchor="t">
            <a:spAutoFit/>
          </a:bodyPr>
          <a:lstStyle/>
          <a:p>
            <a:pPr algn="l">
              <a:lnSpc>
                <a:spcPts val="3010"/>
              </a:lnSpc>
            </a:pPr>
            <a:r>
              <a:rPr lang="en-US" sz="2150" b="1" spc="47">
                <a:solidFill>
                  <a:srgbClr val="2A2E3A"/>
                </a:solidFill>
                <a:latin typeface="Montserrat Classic Bold"/>
                <a:ea typeface="Montserrat Classic Bold"/>
                <a:cs typeface="Montserrat Classic Bold"/>
                <a:sym typeface="Montserrat Classic Bold"/>
              </a:rPr>
              <a:t>WITH THE HELP OF PIE CHART WE CAN SEE THAT 79% OF THE PEOPLE WHO ARE HAVING HEART DISEASE ARE MALES AND 21% ARE FEMALES IN OUR DATASET</a:t>
            </a:r>
          </a:p>
          <a:p>
            <a:pPr marL="0" lvl="0" indent="0" algn="l">
              <a:lnSpc>
                <a:spcPts val="3010"/>
              </a:lnSpc>
              <a:spcBef>
                <a:spcPct val="0"/>
              </a:spcBef>
            </a:pPr>
            <a:endParaRPr lang="en-US" sz="2150" b="1" spc="47">
              <a:solidFill>
                <a:srgbClr val="2A2E3A"/>
              </a:solidFill>
              <a:latin typeface="Montserrat Classic Bold"/>
              <a:ea typeface="Montserrat Classic Bold"/>
              <a:cs typeface="Montserrat Classic Bold"/>
              <a:sym typeface="Montserrat Classic Bold"/>
            </a:endParaRPr>
          </a:p>
        </p:txBody>
      </p:sp>
      <p:sp>
        <p:nvSpPr>
          <p:cNvPr id="8" name="TextBox 8"/>
          <p:cNvSpPr txBox="1"/>
          <p:nvPr/>
        </p:nvSpPr>
        <p:spPr>
          <a:xfrm>
            <a:off x="1470497" y="865815"/>
            <a:ext cx="7222149" cy="1500945"/>
          </a:xfrm>
          <a:prstGeom prst="rect">
            <a:avLst/>
          </a:prstGeom>
        </p:spPr>
        <p:txBody>
          <a:bodyPr lIns="0" tIns="0" rIns="0" bIns="0" rtlCol="0" anchor="t">
            <a:spAutoFit/>
          </a:bodyPr>
          <a:lstStyle/>
          <a:p>
            <a:pPr marL="0" lvl="0" indent="0" algn="l">
              <a:lnSpc>
                <a:spcPts val="5966"/>
              </a:lnSpc>
              <a:spcBef>
                <a:spcPct val="0"/>
              </a:spcBef>
            </a:pPr>
            <a:r>
              <a:rPr lang="en-US" sz="4972" b="1" spc="178">
                <a:solidFill>
                  <a:srgbClr val="2A2E3A"/>
                </a:solidFill>
                <a:latin typeface="Montserrat Classic Bold"/>
                <a:ea typeface="Montserrat Classic Bold"/>
                <a:cs typeface="Montserrat Classic Bold"/>
                <a:sym typeface="Montserrat Classic Bold"/>
              </a:rPr>
              <a:t>Categorical Columns (Pie Charts)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00000">
                <a:alpha val="0"/>
              </a:srgbClr>
            </a:solidFill>
            <a:ln w="609600" cap="sq">
              <a:solidFill>
                <a:srgbClr val="052A47"/>
              </a:solidFill>
              <a:prstDash val="solid"/>
              <a:miter/>
            </a:ln>
          </p:spPr>
          <p:txBody>
            <a:bodyPr/>
            <a:lstStyle/>
            <a:p>
              <a:endParaRPr lang="en-US"/>
            </a:p>
          </p:txBody>
        </p:sp>
        <p:sp>
          <p:nvSpPr>
            <p:cNvPr id="4" name="TextBox 4"/>
            <p:cNvSpPr txBox="1"/>
            <p:nvPr/>
          </p:nvSpPr>
          <p:spPr>
            <a:xfrm>
              <a:off x="0" y="-47625"/>
              <a:ext cx="4816593" cy="275695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8650935" y="1028700"/>
            <a:ext cx="8608365" cy="7708076"/>
          </a:xfrm>
          <a:custGeom>
            <a:avLst/>
            <a:gdLst/>
            <a:ahLst/>
            <a:cxnLst/>
            <a:rect l="l" t="t" r="r" b="b"/>
            <a:pathLst>
              <a:path w="8608365" h="7708076">
                <a:moveTo>
                  <a:pt x="0" y="0"/>
                </a:moveTo>
                <a:lnTo>
                  <a:pt x="8608365" y="0"/>
                </a:lnTo>
                <a:lnTo>
                  <a:pt x="8608365" y="7708076"/>
                </a:lnTo>
                <a:lnTo>
                  <a:pt x="0" y="7708076"/>
                </a:lnTo>
                <a:lnTo>
                  <a:pt x="0" y="0"/>
                </a:lnTo>
                <a:close/>
              </a:path>
            </a:pathLst>
          </a:custGeom>
          <a:blipFill>
            <a:blip r:embed="rId2"/>
            <a:stretch>
              <a:fillRect l="-12057" r="-12057"/>
            </a:stretch>
          </a:blipFill>
        </p:spPr>
        <p:txBody>
          <a:bodyPr/>
          <a:lstStyle/>
          <a:p>
            <a:endParaRPr lang="en-US"/>
          </a:p>
        </p:txBody>
      </p:sp>
      <p:sp>
        <p:nvSpPr>
          <p:cNvPr id="6" name="TextBox 6"/>
          <p:cNvSpPr txBox="1"/>
          <p:nvPr/>
        </p:nvSpPr>
        <p:spPr>
          <a:xfrm>
            <a:off x="1470497" y="2527974"/>
            <a:ext cx="6994922" cy="1898015"/>
          </a:xfrm>
          <a:prstGeom prst="rect">
            <a:avLst/>
          </a:prstGeom>
        </p:spPr>
        <p:txBody>
          <a:bodyPr lIns="0" tIns="0" rIns="0" bIns="0" rtlCol="0" anchor="t">
            <a:spAutoFit/>
          </a:bodyPr>
          <a:lstStyle/>
          <a:p>
            <a:pPr algn="l">
              <a:lnSpc>
                <a:spcPts val="3010"/>
              </a:lnSpc>
            </a:pPr>
            <a:r>
              <a:rPr lang="en-US" sz="2150" b="1" spc="47">
                <a:solidFill>
                  <a:srgbClr val="2A2E3A"/>
                </a:solidFill>
                <a:latin typeface="Montserrat Classic Bold"/>
                <a:ea typeface="Montserrat Classic Bold"/>
                <a:cs typeface="Montserrat Classic Bold"/>
                <a:sym typeface="Montserrat Classic Bold"/>
              </a:rPr>
              <a:t>A VIOLINPLOT IS A GRAPHICAL REPRESENTATION OF A CONTINUOUS DISTRIBUTION, SHOWING THE PROBABILITY DENSITY OF THE DATA AT DIFFERENT VALUES</a:t>
            </a:r>
          </a:p>
          <a:p>
            <a:pPr marL="0" lvl="0" indent="0" algn="l">
              <a:lnSpc>
                <a:spcPts val="3010"/>
              </a:lnSpc>
              <a:spcBef>
                <a:spcPct val="0"/>
              </a:spcBef>
            </a:pPr>
            <a:endParaRPr lang="en-US" sz="2150" b="1" spc="47">
              <a:solidFill>
                <a:srgbClr val="2A2E3A"/>
              </a:solidFill>
              <a:latin typeface="Montserrat Classic Bold"/>
              <a:ea typeface="Montserrat Classic Bold"/>
              <a:cs typeface="Montserrat Classic Bold"/>
              <a:sym typeface="Montserrat Classic Bold"/>
            </a:endParaRPr>
          </a:p>
        </p:txBody>
      </p:sp>
      <p:sp>
        <p:nvSpPr>
          <p:cNvPr id="7" name="TextBox 7"/>
          <p:cNvSpPr txBox="1"/>
          <p:nvPr/>
        </p:nvSpPr>
        <p:spPr>
          <a:xfrm>
            <a:off x="1470497" y="4433955"/>
            <a:ext cx="6994922" cy="1898015"/>
          </a:xfrm>
          <a:prstGeom prst="rect">
            <a:avLst/>
          </a:prstGeom>
        </p:spPr>
        <p:txBody>
          <a:bodyPr lIns="0" tIns="0" rIns="0" bIns="0" rtlCol="0" anchor="t">
            <a:spAutoFit/>
          </a:bodyPr>
          <a:lstStyle/>
          <a:p>
            <a:pPr algn="l">
              <a:lnSpc>
                <a:spcPts val="3010"/>
              </a:lnSpc>
            </a:pPr>
            <a:r>
              <a:rPr lang="en-US" sz="2150" b="1" spc="47">
                <a:solidFill>
                  <a:srgbClr val="2A2E3A"/>
                </a:solidFill>
                <a:latin typeface="Montserrat Classic Bold"/>
                <a:ea typeface="Montserrat Classic Bold"/>
                <a:cs typeface="Montserrat Classic Bold"/>
                <a:sym typeface="Montserrat Classic Bold"/>
              </a:rPr>
              <a:t>SO FROM THIS WE CAN SEE THERE ARE MORE MALES WHO ARE HAVING THE CHANCES OF HAVING A HEART DISEASE COMPARED TO FEMALES</a:t>
            </a:r>
          </a:p>
          <a:p>
            <a:pPr marL="0" lvl="0" indent="0" algn="l">
              <a:lnSpc>
                <a:spcPts val="3010"/>
              </a:lnSpc>
              <a:spcBef>
                <a:spcPct val="0"/>
              </a:spcBef>
            </a:pPr>
            <a:endParaRPr lang="en-US" sz="2150" b="1" spc="47">
              <a:solidFill>
                <a:srgbClr val="2A2E3A"/>
              </a:solidFill>
              <a:latin typeface="Montserrat Classic Bold"/>
              <a:ea typeface="Montserrat Classic Bold"/>
              <a:cs typeface="Montserrat Classic Bold"/>
              <a:sym typeface="Montserrat Classic Bold"/>
            </a:endParaRPr>
          </a:p>
        </p:txBody>
      </p:sp>
      <p:sp>
        <p:nvSpPr>
          <p:cNvPr id="8" name="TextBox 8"/>
          <p:cNvSpPr txBox="1"/>
          <p:nvPr/>
        </p:nvSpPr>
        <p:spPr>
          <a:xfrm>
            <a:off x="1470497" y="1241051"/>
            <a:ext cx="6853879" cy="750473"/>
          </a:xfrm>
          <a:prstGeom prst="rect">
            <a:avLst/>
          </a:prstGeom>
        </p:spPr>
        <p:txBody>
          <a:bodyPr lIns="0" tIns="0" rIns="0" bIns="0" rtlCol="0" anchor="t">
            <a:spAutoFit/>
          </a:bodyPr>
          <a:lstStyle/>
          <a:p>
            <a:pPr marL="0" lvl="0" indent="0" algn="l">
              <a:lnSpc>
                <a:spcPts val="5966"/>
              </a:lnSpc>
              <a:spcBef>
                <a:spcPct val="0"/>
              </a:spcBef>
            </a:pPr>
            <a:r>
              <a:rPr lang="en-US" sz="4972" b="1" spc="178">
                <a:solidFill>
                  <a:srgbClr val="2A2E3A"/>
                </a:solidFill>
                <a:latin typeface="Montserrat Classic Bold"/>
                <a:ea typeface="Montserrat Classic Bold"/>
                <a:cs typeface="Montserrat Classic Bold"/>
                <a:sym typeface="Montserrat Classic Bold"/>
              </a:rPr>
              <a:t>ViolinPlot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00000">
                <a:alpha val="0"/>
              </a:srgbClr>
            </a:solidFill>
            <a:ln w="609600" cap="sq">
              <a:solidFill>
                <a:srgbClr val="052A47"/>
              </a:solidFill>
              <a:prstDash val="solid"/>
              <a:miter/>
            </a:ln>
          </p:spPr>
          <p:txBody>
            <a:bodyPr/>
            <a:lstStyle/>
            <a:p>
              <a:endParaRPr lang="en-US"/>
            </a:p>
          </p:txBody>
        </p:sp>
        <p:sp>
          <p:nvSpPr>
            <p:cNvPr id="4" name="TextBox 4"/>
            <p:cNvSpPr txBox="1"/>
            <p:nvPr/>
          </p:nvSpPr>
          <p:spPr>
            <a:xfrm>
              <a:off x="0" y="-47625"/>
              <a:ext cx="4816593" cy="275695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144000" y="1363918"/>
            <a:ext cx="8410043" cy="7588079"/>
          </a:xfrm>
          <a:custGeom>
            <a:avLst/>
            <a:gdLst/>
            <a:ahLst/>
            <a:cxnLst/>
            <a:rect l="l" t="t" r="r" b="b"/>
            <a:pathLst>
              <a:path w="8410043" h="7588079">
                <a:moveTo>
                  <a:pt x="0" y="0"/>
                </a:moveTo>
                <a:lnTo>
                  <a:pt x="8410043" y="0"/>
                </a:lnTo>
                <a:lnTo>
                  <a:pt x="8410043" y="7588079"/>
                </a:lnTo>
                <a:lnTo>
                  <a:pt x="0" y="7588079"/>
                </a:lnTo>
                <a:lnTo>
                  <a:pt x="0" y="0"/>
                </a:lnTo>
                <a:close/>
              </a:path>
            </a:pathLst>
          </a:custGeom>
          <a:blipFill>
            <a:blip r:embed="rId2"/>
            <a:stretch>
              <a:fillRect l="-9063" r="-5267"/>
            </a:stretch>
          </a:blipFill>
        </p:spPr>
        <p:txBody>
          <a:bodyPr/>
          <a:lstStyle/>
          <a:p>
            <a:endParaRPr lang="en-US"/>
          </a:p>
        </p:txBody>
      </p:sp>
      <p:sp>
        <p:nvSpPr>
          <p:cNvPr id="6" name="TextBox 6"/>
          <p:cNvSpPr txBox="1"/>
          <p:nvPr/>
        </p:nvSpPr>
        <p:spPr>
          <a:xfrm>
            <a:off x="1470497" y="2364172"/>
            <a:ext cx="6994922" cy="2225620"/>
          </a:xfrm>
          <a:prstGeom prst="rect">
            <a:avLst/>
          </a:prstGeom>
        </p:spPr>
        <p:txBody>
          <a:bodyPr lIns="0" tIns="0" rIns="0" bIns="0" rtlCol="0" anchor="t">
            <a:spAutoFit/>
          </a:bodyPr>
          <a:lstStyle/>
          <a:p>
            <a:pPr algn="l">
              <a:lnSpc>
                <a:spcPts val="3010"/>
              </a:lnSpc>
            </a:pPr>
            <a:r>
              <a:rPr lang="en-US" sz="2150" b="1" spc="47">
                <a:solidFill>
                  <a:srgbClr val="2A2E3A"/>
                </a:solidFill>
                <a:latin typeface="Montserrat Classic Bold"/>
                <a:ea typeface="Montserrat Classic Bold"/>
                <a:cs typeface="Montserrat Classic Bold"/>
                <a:sym typeface="Montserrat Classic Bold"/>
              </a:rPr>
              <a:t>A CORRELATION HEATMAP IS A GRAPHICAL REPRESENTATION OF THE CORRELATION MATRIX OF A DATASET, WHICH SHOWS THE CORRELATION COEFFICIENTS BETWEEN THE DIFFERENT VARIABLES IN THE DATASET.</a:t>
            </a:r>
          </a:p>
          <a:p>
            <a:pPr marL="0" lvl="0" indent="0" algn="l">
              <a:lnSpc>
                <a:spcPts val="2596"/>
              </a:lnSpc>
              <a:spcBef>
                <a:spcPct val="0"/>
              </a:spcBef>
            </a:pPr>
            <a:endParaRPr lang="en-US" sz="2150" b="1" spc="47">
              <a:solidFill>
                <a:srgbClr val="2A2E3A"/>
              </a:solidFill>
              <a:latin typeface="Montserrat Classic Bold"/>
              <a:ea typeface="Montserrat Classic Bold"/>
              <a:cs typeface="Montserrat Classic Bold"/>
              <a:sym typeface="Montserrat Classic Bold"/>
            </a:endParaRPr>
          </a:p>
        </p:txBody>
      </p:sp>
      <p:sp>
        <p:nvSpPr>
          <p:cNvPr id="7" name="TextBox 7"/>
          <p:cNvSpPr txBox="1"/>
          <p:nvPr/>
        </p:nvSpPr>
        <p:spPr>
          <a:xfrm>
            <a:off x="1470497" y="4542167"/>
            <a:ext cx="6994922" cy="1517015"/>
          </a:xfrm>
          <a:prstGeom prst="rect">
            <a:avLst/>
          </a:prstGeom>
        </p:spPr>
        <p:txBody>
          <a:bodyPr lIns="0" tIns="0" rIns="0" bIns="0" rtlCol="0" anchor="t">
            <a:spAutoFit/>
          </a:bodyPr>
          <a:lstStyle/>
          <a:p>
            <a:pPr marL="0" lvl="0" indent="0" algn="l">
              <a:lnSpc>
                <a:spcPts val="3010"/>
              </a:lnSpc>
              <a:spcBef>
                <a:spcPct val="0"/>
              </a:spcBef>
            </a:pPr>
            <a:r>
              <a:rPr lang="en-US" sz="2150" b="1" spc="47">
                <a:solidFill>
                  <a:srgbClr val="2A2E3A"/>
                </a:solidFill>
                <a:latin typeface="Montserrat Classic Bold"/>
                <a:ea typeface="Montserrat Classic Bold"/>
                <a:cs typeface="Montserrat Classic Bold"/>
                <a:sym typeface="Montserrat Classic Bold"/>
              </a:rPr>
              <a:t>THE VALUES IN THE MATRIX ARE REPRESENTED AS COLORS, WITH DARKER COLORS INDICATING A STRONGER POSITIVE OR NEGATIVE CORRELATION</a:t>
            </a:r>
          </a:p>
        </p:txBody>
      </p:sp>
      <p:sp>
        <p:nvSpPr>
          <p:cNvPr id="8" name="TextBox 8"/>
          <p:cNvSpPr txBox="1"/>
          <p:nvPr/>
        </p:nvSpPr>
        <p:spPr>
          <a:xfrm>
            <a:off x="1470497" y="6291982"/>
            <a:ext cx="6994922" cy="2660015"/>
          </a:xfrm>
          <a:prstGeom prst="rect">
            <a:avLst/>
          </a:prstGeom>
        </p:spPr>
        <p:txBody>
          <a:bodyPr lIns="0" tIns="0" rIns="0" bIns="0" rtlCol="0" anchor="t">
            <a:spAutoFit/>
          </a:bodyPr>
          <a:lstStyle/>
          <a:p>
            <a:pPr algn="l">
              <a:lnSpc>
                <a:spcPts val="3010"/>
              </a:lnSpc>
            </a:pPr>
            <a:r>
              <a:rPr lang="en-US" sz="2150" b="1" spc="47">
                <a:solidFill>
                  <a:srgbClr val="2A2E3A"/>
                </a:solidFill>
                <a:latin typeface="Montserrat Classic Bold"/>
                <a:ea typeface="Montserrat Classic Bold"/>
                <a:cs typeface="Montserrat Classic Bold"/>
                <a:sym typeface="Montserrat Classic Bold"/>
              </a:rPr>
              <a:t>THE VALUES IN THE MATRIX ARE THE PEARSON CORRELATION COEFFICIENTS BETWEEN THE DIFFERENT VARIABLES, WITH 1 INDICATING A STRONG POSITIVE CORRELATION, -1 INDICATING A STRONG NEGATIVE CORRELATION, AND 0 INDICATING NO CORRELATION</a:t>
            </a:r>
          </a:p>
          <a:p>
            <a:pPr marL="0" lvl="0" indent="0" algn="l">
              <a:lnSpc>
                <a:spcPts val="3010"/>
              </a:lnSpc>
              <a:spcBef>
                <a:spcPct val="0"/>
              </a:spcBef>
            </a:pPr>
            <a:endParaRPr lang="en-US" sz="2150" b="1" spc="47">
              <a:solidFill>
                <a:srgbClr val="2A2E3A"/>
              </a:solidFill>
              <a:latin typeface="Montserrat Classic Bold"/>
              <a:ea typeface="Montserrat Classic Bold"/>
              <a:cs typeface="Montserrat Classic Bold"/>
              <a:sym typeface="Montserrat Classic Bold"/>
            </a:endParaRPr>
          </a:p>
        </p:txBody>
      </p:sp>
      <p:sp>
        <p:nvSpPr>
          <p:cNvPr id="9" name="TextBox 9"/>
          <p:cNvSpPr txBox="1"/>
          <p:nvPr/>
        </p:nvSpPr>
        <p:spPr>
          <a:xfrm>
            <a:off x="1470497" y="1241051"/>
            <a:ext cx="7673503" cy="750473"/>
          </a:xfrm>
          <a:prstGeom prst="rect">
            <a:avLst/>
          </a:prstGeom>
        </p:spPr>
        <p:txBody>
          <a:bodyPr lIns="0" tIns="0" rIns="0" bIns="0" rtlCol="0" anchor="t">
            <a:spAutoFit/>
          </a:bodyPr>
          <a:lstStyle/>
          <a:p>
            <a:pPr marL="0" lvl="0" indent="0" algn="l">
              <a:lnSpc>
                <a:spcPts val="5966"/>
              </a:lnSpc>
              <a:spcBef>
                <a:spcPct val="0"/>
              </a:spcBef>
            </a:pPr>
            <a:r>
              <a:rPr lang="en-US" sz="4972" b="1" spc="178">
                <a:solidFill>
                  <a:srgbClr val="2A2E3A"/>
                </a:solidFill>
                <a:latin typeface="Montserrat Classic Bold"/>
                <a:ea typeface="Montserrat Classic Bold"/>
                <a:cs typeface="Montserrat Classic Bold"/>
                <a:sym typeface="Montserrat Classic Bold"/>
              </a:rPr>
              <a:t>Correlation (HeatMap)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00000">
                <a:alpha val="0"/>
              </a:srgbClr>
            </a:solidFill>
            <a:ln w="609600" cap="sq">
              <a:solidFill>
                <a:srgbClr val="052A47"/>
              </a:solidFill>
              <a:prstDash val="solid"/>
              <a:miter/>
            </a:ln>
          </p:spPr>
          <p:txBody>
            <a:bodyPr/>
            <a:lstStyle/>
            <a:p>
              <a:endParaRPr lang="en-US"/>
            </a:p>
          </p:txBody>
        </p:sp>
        <p:sp>
          <p:nvSpPr>
            <p:cNvPr id="4" name="TextBox 4"/>
            <p:cNvSpPr txBox="1"/>
            <p:nvPr/>
          </p:nvSpPr>
          <p:spPr>
            <a:xfrm>
              <a:off x="0" y="-47625"/>
              <a:ext cx="4816593" cy="275695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144000" y="1241765"/>
            <a:ext cx="8115300" cy="7018606"/>
          </a:xfrm>
          <a:custGeom>
            <a:avLst/>
            <a:gdLst/>
            <a:ahLst/>
            <a:cxnLst/>
            <a:rect l="l" t="t" r="r" b="b"/>
            <a:pathLst>
              <a:path w="8115300" h="7018606">
                <a:moveTo>
                  <a:pt x="0" y="0"/>
                </a:moveTo>
                <a:lnTo>
                  <a:pt x="8115300" y="0"/>
                </a:lnTo>
                <a:lnTo>
                  <a:pt x="8115300" y="7018606"/>
                </a:lnTo>
                <a:lnTo>
                  <a:pt x="0" y="7018606"/>
                </a:lnTo>
                <a:lnTo>
                  <a:pt x="0" y="0"/>
                </a:lnTo>
                <a:close/>
              </a:path>
            </a:pathLst>
          </a:custGeom>
          <a:blipFill>
            <a:blip r:embed="rId2"/>
            <a:stretch>
              <a:fillRect l="-1106" t="-12803" r="-1106"/>
            </a:stretch>
          </a:blipFill>
        </p:spPr>
        <p:txBody>
          <a:bodyPr/>
          <a:lstStyle/>
          <a:p>
            <a:endParaRPr lang="en-US"/>
          </a:p>
        </p:txBody>
      </p:sp>
      <p:sp>
        <p:nvSpPr>
          <p:cNvPr id="6" name="TextBox 6"/>
          <p:cNvSpPr txBox="1"/>
          <p:nvPr/>
        </p:nvSpPr>
        <p:spPr>
          <a:xfrm>
            <a:off x="1470497" y="2718474"/>
            <a:ext cx="6994922" cy="1517015"/>
          </a:xfrm>
          <a:prstGeom prst="rect">
            <a:avLst/>
          </a:prstGeom>
        </p:spPr>
        <p:txBody>
          <a:bodyPr lIns="0" tIns="0" rIns="0" bIns="0" rtlCol="0" anchor="t">
            <a:spAutoFit/>
          </a:bodyPr>
          <a:lstStyle/>
          <a:p>
            <a:pPr marL="0" lvl="0" indent="0" algn="l">
              <a:lnSpc>
                <a:spcPts val="3010"/>
              </a:lnSpc>
              <a:spcBef>
                <a:spcPct val="0"/>
              </a:spcBef>
            </a:pPr>
            <a:r>
              <a:rPr lang="en-US" sz="2150" b="1" spc="47">
                <a:solidFill>
                  <a:srgbClr val="2A2E3A"/>
                </a:solidFill>
                <a:latin typeface="Montserrat Classic Bold"/>
                <a:ea typeface="Montserrat Classic Bold"/>
                <a:cs typeface="Montserrat Classic Bold"/>
                <a:sym typeface="Montserrat Classic Bold"/>
              </a:rPr>
              <a:t>A CORRELATION PAIRPLOT IS A GRAPHICAL REPRESENTATION OF THE PAIRWISE RELATIONSHIPS BETWEEN VARIABLES IN A DATASET</a:t>
            </a:r>
          </a:p>
        </p:txBody>
      </p:sp>
      <p:sp>
        <p:nvSpPr>
          <p:cNvPr id="7" name="TextBox 7"/>
          <p:cNvSpPr txBox="1"/>
          <p:nvPr/>
        </p:nvSpPr>
        <p:spPr>
          <a:xfrm>
            <a:off x="1470497" y="4577498"/>
            <a:ext cx="6994922" cy="1463620"/>
          </a:xfrm>
          <a:prstGeom prst="rect">
            <a:avLst/>
          </a:prstGeom>
        </p:spPr>
        <p:txBody>
          <a:bodyPr lIns="0" tIns="0" rIns="0" bIns="0" rtlCol="0" anchor="t">
            <a:spAutoFit/>
          </a:bodyPr>
          <a:lstStyle/>
          <a:p>
            <a:pPr algn="l">
              <a:lnSpc>
                <a:spcPts val="3010"/>
              </a:lnSpc>
            </a:pPr>
            <a:r>
              <a:rPr lang="en-US" sz="2150" b="1" spc="47">
                <a:solidFill>
                  <a:srgbClr val="2A2E3A"/>
                </a:solidFill>
                <a:latin typeface="Montserrat Classic Bold"/>
                <a:ea typeface="Montserrat Classic Bold"/>
                <a:cs typeface="Montserrat Classic Bold"/>
                <a:sym typeface="Montserrat Classic Bold"/>
              </a:rPr>
              <a:t>IT IS A MATRIX OF SCATTER PLOTS, WHERE EACH SCATTER PLOT SHOWS THE RELATIONSHIP BETWEEN TWO VARIABLES</a:t>
            </a:r>
          </a:p>
          <a:p>
            <a:pPr marL="0" lvl="0" indent="0" algn="l">
              <a:lnSpc>
                <a:spcPts val="2596"/>
              </a:lnSpc>
              <a:spcBef>
                <a:spcPct val="0"/>
              </a:spcBef>
            </a:pPr>
            <a:endParaRPr lang="en-US" sz="2150" b="1" spc="47">
              <a:solidFill>
                <a:srgbClr val="2A2E3A"/>
              </a:solidFill>
              <a:latin typeface="Montserrat Classic Bold"/>
              <a:ea typeface="Montserrat Classic Bold"/>
              <a:cs typeface="Montserrat Classic Bold"/>
              <a:sym typeface="Montserrat Classic Bold"/>
            </a:endParaRPr>
          </a:p>
        </p:txBody>
      </p:sp>
      <p:sp>
        <p:nvSpPr>
          <p:cNvPr id="8" name="TextBox 8"/>
          <p:cNvSpPr txBox="1"/>
          <p:nvPr/>
        </p:nvSpPr>
        <p:spPr>
          <a:xfrm>
            <a:off x="1470497" y="1241051"/>
            <a:ext cx="7394008" cy="750473"/>
          </a:xfrm>
          <a:prstGeom prst="rect">
            <a:avLst/>
          </a:prstGeom>
        </p:spPr>
        <p:txBody>
          <a:bodyPr lIns="0" tIns="0" rIns="0" bIns="0" rtlCol="0" anchor="t">
            <a:spAutoFit/>
          </a:bodyPr>
          <a:lstStyle/>
          <a:p>
            <a:pPr marL="0" lvl="0" indent="0" algn="l">
              <a:lnSpc>
                <a:spcPts val="5966"/>
              </a:lnSpc>
              <a:spcBef>
                <a:spcPct val="0"/>
              </a:spcBef>
            </a:pPr>
            <a:r>
              <a:rPr lang="en-US" sz="4972" b="1" spc="178">
                <a:solidFill>
                  <a:srgbClr val="2A2E3A"/>
                </a:solidFill>
                <a:latin typeface="Montserrat Classic Bold"/>
                <a:ea typeface="Montserrat Classic Bold"/>
                <a:cs typeface="Montserrat Classic Bold"/>
                <a:sym typeface="Montserrat Classic Bold"/>
              </a:rPr>
              <a:t>Correlation (PairPlot)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00000">
                <a:alpha val="0"/>
              </a:srgbClr>
            </a:solidFill>
            <a:ln w="609600" cap="sq">
              <a:solidFill>
                <a:srgbClr val="052A47"/>
              </a:solidFill>
              <a:prstDash val="solid"/>
              <a:miter/>
            </a:ln>
          </p:spPr>
          <p:txBody>
            <a:bodyPr/>
            <a:lstStyle/>
            <a:p>
              <a:endParaRPr lang="en-US"/>
            </a:p>
          </p:txBody>
        </p:sp>
        <p:sp>
          <p:nvSpPr>
            <p:cNvPr id="4" name="TextBox 4"/>
            <p:cNvSpPr txBox="1"/>
            <p:nvPr/>
          </p:nvSpPr>
          <p:spPr>
            <a:xfrm>
              <a:off x="0" y="-47625"/>
              <a:ext cx="4816593" cy="275695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642556" y="1241051"/>
            <a:ext cx="7616744" cy="7096299"/>
          </a:xfrm>
          <a:custGeom>
            <a:avLst/>
            <a:gdLst/>
            <a:ahLst/>
            <a:cxnLst/>
            <a:rect l="l" t="t" r="r" b="b"/>
            <a:pathLst>
              <a:path w="7616744" h="7096299">
                <a:moveTo>
                  <a:pt x="0" y="0"/>
                </a:moveTo>
                <a:lnTo>
                  <a:pt x="7616744" y="0"/>
                </a:lnTo>
                <a:lnTo>
                  <a:pt x="7616744" y="7096299"/>
                </a:lnTo>
                <a:lnTo>
                  <a:pt x="0" y="7096299"/>
                </a:lnTo>
                <a:lnTo>
                  <a:pt x="0" y="0"/>
                </a:lnTo>
                <a:close/>
              </a:path>
            </a:pathLst>
          </a:custGeom>
          <a:blipFill>
            <a:blip r:embed="rId2"/>
            <a:stretch>
              <a:fillRect l="-8264" r="-8264"/>
            </a:stretch>
          </a:blipFill>
        </p:spPr>
        <p:txBody>
          <a:bodyPr/>
          <a:lstStyle/>
          <a:p>
            <a:endParaRPr lang="en-US"/>
          </a:p>
        </p:txBody>
      </p:sp>
      <p:sp>
        <p:nvSpPr>
          <p:cNvPr id="6" name="TextBox 6"/>
          <p:cNvSpPr txBox="1"/>
          <p:nvPr/>
        </p:nvSpPr>
        <p:spPr>
          <a:xfrm>
            <a:off x="1470497" y="2718474"/>
            <a:ext cx="6994922" cy="1517015"/>
          </a:xfrm>
          <a:prstGeom prst="rect">
            <a:avLst/>
          </a:prstGeom>
        </p:spPr>
        <p:txBody>
          <a:bodyPr lIns="0" tIns="0" rIns="0" bIns="0" rtlCol="0" anchor="t">
            <a:spAutoFit/>
          </a:bodyPr>
          <a:lstStyle/>
          <a:p>
            <a:pPr marL="0" lvl="0" indent="0" algn="l">
              <a:lnSpc>
                <a:spcPts val="3010"/>
              </a:lnSpc>
              <a:spcBef>
                <a:spcPct val="0"/>
              </a:spcBef>
            </a:pPr>
            <a:r>
              <a:rPr lang="en-US" sz="2150" b="1" spc="47">
                <a:solidFill>
                  <a:srgbClr val="2A2E3A"/>
                </a:solidFill>
                <a:latin typeface="Montserrat Classic Bold"/>
                <a:ea typeface="Montserrat Classic Bold"/>
                <a:cs typeface="Montserrat Classic Bold"/>
                <a:sym typeface="Montserrat Classic Bold"/>
              </a:rPr>
              <a:t>A CORRELATION JOINTPLOT IS A GRAPHICAL REPRESENTATION OF THE JOINT DISTRIBUTION OF TWO VARIABLES, ALONG WITH THEIR INDIVIDUAL DISTRIBUTIONS</a:t>
            </a:r>
          </a:p>
        </p:txBody>
      </p:sp>
      <p:sp>
        <p:nvSpPr>
          <p:cNvPr id="7" name="TextBox 7"/>
          <p:cNvSpPr txBox="1"/>
          <p:nvPr/>
        </p:nvSpPr>
        <p:spPr>
          <a:xfrm>
            <a:off x="1470497" y="4586191"/>
            <a:ext cx="6994922" cy="1898015"/>
          </a:xfrm>
          <a:prstGeom prst="rect">
            <a:avLst/>
          </a:prstGeom>
        </p:spPr>
        <p:txBody>
          <a:bodyPr lIns="0" tIns="0" rIns="0" bIns="0" rtlCol="0" anchor="t">
            <a:spAutoFit/>
          </a:bodyPr>
          <a:lstStyle/>
          <a:p>
            <a:pPr marL="0" lvl="0" indent="0" algn="l">
              <a:lnSpc>
                <a:spcPts val="3010"/>
              </a:lnSpc>
              <a:spcBef>
                <a:spcPct val="0"/>
              </a:spcBef>
            </a:pPr>
            <a:r>
              <a:rPr lang="en-US" sz="2150" b="1" spc="47">
                <a:solidFill>
                  <a:srgbClr val="2A2E3A"/>
                </a:solidFill>
                <a:latin typeface="Montserrat Classic Bold"/>
                <a:ea typeface="Montserrat Classic Bold"/>
                <a:cs typeface="Montserrat Classic Bold"/>
                <a:sym typeface="Montserrat Classic Bold"/>
              </a:rPr>
              <a:t>THE PLOT INCLUDES A SCATTERPLOT OF THE DATA, WITH A REGRESSION LINE SHOWING THE TREND, AS WELL AS HISTOGRAMS OR KERNEL DENSITY PLOTS OF THE INDIVIDUAL VARIABLES ON THE X- AND Y-AXES</a:t>
            </a:r>
          </a:p>
        </p:txBody>
      </p:sp>
      <p:sp>
        <p:nvSpPr>
          <p:cNvPr id="8" name="TextBox 8"/>
          <p:cNvSpPr txBox="1"/>
          <p:nvPr/>
        </p:nvSpPr>
        <p:spPr>
          <a:xfrm>
            <a:off x="1470497" y="6834907"/>
            <a:ext cx="6994922" cy="755015"/>
          </a:xfrm>
          <a:prstGeom prst="rect">
            <a:avLst/>
          </a:prstGeom>
        </p:spPr>
        <p:txBody>
          <a:bodyPr lIns="0" tIns="0" rIns="0" bIns="0" rtlCol="0" anchor="t">
            <a:spAutoFit/>
          </a:bodyPr>
          <a:lstStyle/>
          <a:p>
            <a:pPr marL="0" lvl="0" indent="0" algn="l">
              <a:lnSpc>
                <a:spcPts val="3010"/>
              </a:lnSpc>
              <a:spcBef>
                <a:spcPct val="0"/>
              </a:spcBef>
            </a:pPr>
            <a:r>
              <a:rPr lang="en-US" sz="2150" b="1" spc="47">
                <a:solidFill>
                  <a:srgbClr val="2A2E3A"/>
                </a:solidFill>
                <a:latin typeface="Montserrat Classic Bold"/>
                <a:ea typeface="Montserrat Classic Bold"/>
                <a:cs typeface="Montserrat Classic Bold"/>
                <a:sym typeface="Montserrat Classic Bold"/>
              </a:rPr>
              <a:t>SO FROM THIS WE CAN SEE BASED ON CHOLESTEROL HOW THE MAXHR IS CHANGING</a:t>
            </a:r>
          </a:p>
        </p:txBody>
      </p:sp>
      <p:sp>
        <p:nvSpPr>
          <p:cNvPr id="9" name="TextBox 9"/>
          <p:cNvSpPr txBox="1"/>
          <p:nvPr/>
        </p:nvSpPr>
        <p:spPr>
          <a:xfrm>
            <a:off x="1470497" y="1241051"/>
            <a:ext cx="8179652" cy="750473"/>
          </a:xfrm>
          <a:prstGeom prst="rect">
            <a:avLst/>
          </a:prstGeom>
        </p:spPr>
        <p:txBody>
          <a:bodyPr lIns="0" tIns="0" rIns="0" bIns="0" rtlCol="0" anchor="t">
            <a:spAutoFit/>
          </a:bodyPr>
          <a:lstStyle/>
          <a:p>
            <a:pPr marL="0" lvl="0" indent="0" algn="l">
              <a:lnSpc>
                <a:spcPts val="5966"/>
              </a:lnSpc>
              <a:spcBef>
                <a:spcPct val="0"/>
              </a:spcBef>
            </a:pPr>
            <a:r>
              <a:rPr lang="en-US" sz="4972" b="1" spc="178">
                <a:solidFill>
                  <a:srgbClr val="2A2E3A"/>
                </a:solidFill>
                <a:latin typeface="Montserrat Classic Bold"/>
                <a:ea typeface="Montserrat Classic Bold"/>
                <a:cs typeface="Montserrat Classic Bold"/>
                <a:sym typeface="Montserrat Classic Bold"/>
              </a:rPr>
              <a:t>Correlation - (JointPlot)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4053739"/>
            <a:chOff x="0" y="0"/>
            <a:chExt cx="4816593" cy="1067651"/>
          </a:xfrm>
        </p:grpSpPr>
        <p:sp>
          <p:nvSpPr>
            <p:cNvPr id="3" name="Freeform 3"/>
            <p:cNvSpPr/>
            <p:nvPr/>
          </p:nvSpPr>
          <p:spPr>
            <a:xfrm>
              <a:off x="0" y="0"/>
              <a:ext cx="4816592" cy="1067651"/>
            </a:xfrm>
            <a:custGeom>
              <a:avLst/>
              <a:gdLst/>
              <a:ahLst/>
              <a:cxnLst/>
              <a:rect l="l" t="t" r="r" b="b"/>
              <a:pathLst>
                <a:path w="4816592" h="1067651">
                  <a:moveTo>
                    <a:pt x="0" y="0"/>
                  </a:moveTo>
                  <a:lnTo>
                    <a:pt x="4816592" y="0"/>
                  </a:lnTo>
                  <a:lnTo>
                    <a:pt x="4816592" y="1067651"/>
                  </a:lnTo>
                  <a:lnTo>
                    <a:pt x="0" y="1067651"/>
                  </a:lnTo>
                  <a:close/>
                </a:path>
              </a:pathLst>
            </a:custGeom>
            <a:solidFill>
              <a:srgbClr val="052A47"/>
            </a:solidFill>
            <a:ln cap="sq">
              <a:noFill/>
              <a:prstDash val="solid"/>
              <a:miter/>
            </a:ln>
          </p:spPr>
          <p:txBody>
            <a:bodyPr/>
            <a:lstStyle/>
            <a:p>
              <a:endParaRPr lang="en-US"/>
            </a:p>
          </p:txBody>
        </p:sp>
        <p:sp>
          <p:nvSpPr>
            <p:cNvPr id="4" name="TextBox 4"/>
            <p:cNvSpPr txBox="1"/>
            <p:nvPr/>
          </p:nvSpPr>
          <p:spPr>
            <a:xfrm>
              <a:off x="0" y="-47625"/>
              <a:ext cx="4816593" cy="111527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0" y="0"/>
            <a:ext cx="18288000" cy="4053739"/>
          </a:xfrm>
          <a:custGeom>
            <a:avLst/>
            <a:gdLst/>
            <a:ahLst/>
            <a:cxnLst/>
            <a:rect l="l" t="t" r="r" b="b"/>
            <a:pathLst>
              <a:path w="18288000" h="4053739">
                <a:moveTo>
                  <a:pt x="0" y="0"/>
                </a:moveTo>
                <a:lnTo>
                  <a:pt x="18288000" y="0"/>
                </a:lnTo>
                <a:lnTo>
                  <a:pt x="18288000" y="4053739"/>
                </a:lnTo>
                <a:lnTo>
                  <a:pt x="0" y="4053739"/>
                </a:lnTo>
                <a:lnTo>
                  <a:pt x="0" y="0"/>
                </a:lnTo>
                <a:close/>
              </a:path>
            </a:pathLst>
          </a:custGeom>
          <a:blipFill>
            <a:blip r:embed="rId2">
              <a:alphaModFix amt="19999"/>
            </a:blip>
            <a:stretch>
              <a:fillRect t="-25349" b="-175221"/>
            </a:stretch>
          </a:blipFill>
        </p:spPr>
        <p:txBody>
          <a:bodyPr/>
          <a:lstStyle/>
          <a:p>
            <a:endParaRPr lang="en-US"/>
          </a:p>
        </p:txBody>
      </p:sp>
      <p:sp>
        <p:nvSpPr>
          <p:cNvPr id="6" name="TextBox 6"/>
          <p:cNvSpPr txBox="1"/>
          <p:nvPr/>
        </p:nvSpPr>
        <p:spPr>
          <a:xfrm>
            <a:off x="1796611" y="2128857"/>
            <a:ext cx="7578207" cy="1020162"/>
          </a:xfrm>
          <a:prstGeom prst="rect">
            <a:avLst/>
          </a:prstGeom>
        </p:spPr>
        <p:txBody>
          <a:bodyPr lIns="0" tIns="0" rIns="0" bIns="0" rtlCol="0" anchor="t">
            <a:spAutoFit/>
          </a:bodyPr>
          <a:lstStyle/>
          <a:p>
            <a:pPr marL="0" lvl="0" indent="0" algn="l">
              <a:lnSpc>
                <a:spcPts val="8010"/>
              </a:lnSpc>
              <a:spcBef>
                <a:spcPct val="0"/>
              </a:spcBef>
            </a:pPr>
            <a:r>
              <a:rPr lang="en-US" sz="6675" b="1" spc="240">
                <a:solidFill>
                  <a:srgbClr val="FFFBFB"/>
                </a:solidFill>
                <a:latin typeface="Montserrat Classic Bold"/>
                <a:ea typeface="Montserrat Classic Bold"/>
                <a:cs typeface="Montserrat Classic Bold"/>
                <a:sym typeface="Montserrat Classic Bold"/>
              </a:rPr>
              <a:t>Conclusion</a:t>
            </a:r>
          </a:p>
        </p:txBody>
      </p:sp>
      <p:sp>
        <p:nvSpPr>
          <p:cNvPr id="7" name="Freeform 7"/>
          <p:cNvSpPr/>
          <p:nvPr/>
        </p:nvSpPr>
        <p:spPr>
          <a:xfrm>
            <a:off x="9374818" y="-2586212"/>
            <a:ext cx="9619282" cy="5963955"/>
          </a:xfrm>
          <a:custGeom>
            <a:avLst/>
            <a:gdLst/>
            <a:ahLst/>
            <a:cxnLst/>
            <a:rect l="l" t="t" r="r" b="b"/>
            <a:pathLst>
              <a:path w="9619282" h="5963955">
                <a:moveTo>
                  <a:pt x="0" y="0"/>
                </a:moveTo>
                <a:lnTo>
                  <a:pt x="9619282" y="0"/>
                </a:lnTo>
                <a:lnTo>
                  <a:pt x="9619282" y="5963954"/>
                </a:lnTo>
                <a:lnTo>
                  <a:pt x="0" y="5963954"/>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8" name="Freeform 8"/>
          <p:cNvSpPr/>
          <p:nvPr/>
        </p:nvSpPr>
        <p:spPr>
          <a:xfrm>
            <a:off x="8345096" y="-1016743"/>
            <a:ext cx="5903940" cy="3660443"/>
          </a:xfrm>
          <a:custGeom>
            <a:avLst/>
            <a:gdLst/>
            <a:ahLst/>
            <a:cxnLst/>
            <a:rect l="l" t="t" r="r" b="b"/>
            <a:pathLst>
              <a:path w="5903940" h="3660443">
                <a:moveTo>
                  <a:pt x="0" y="0"/>
                </a:moveTo>
                <a:lnTo>
                  <a:pt x="5903940" y="0"/>
                </a:lnTo>
                <a:lnTo>
                  <a:pt x="5903940" y="3660443"/>
                </a:lnTo>
                <a:lnTo>
                  <a:pt x="0" y="3660443"/>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9" name="TextBox 9"/>
          <p:cNvSpPr txBox="1"/>
          <p:nvPr/>
        </p:nvSpPr>
        <p:spPr>
          <a:xfrm>
            <a:off x="1028700" y="4170344"/>
            <a:ext cx="16230600" cy="5523231"/>
          </a:xfrm>
          <a:prstGeom prst="rect">
            <a:avLst/>
          </a:prstGeom>
        </p:spPr>
        <p:txBody>
          <a:bodyPr lIns="0" tIns="0" rIns="0" bIns="0" rtlCol="0" anchor="t">
            <a:spAutoFit/>
          </a:bodyPr>
          <a:lstStyle/>
          <a:p>
            <a:pPr marL="528954" lvl="1" indent="-264477" algn="l">
              <a:lnSpc>
                <a:spcPts val="3429"/>
              </a:lnSpc>
              <a:buFont typeface="Arial"/>
              <a:buChar char="•"/>
            </a:pPr>
            <a:r>
              <a:rPr lang="en-US" sz="2449" b="1" spc="110">
                <a:solidFill>
                  <a:srgbClr val="2A2E3A"/>
                </a:solidFill>
                <a:latin typeface="Montserrat Classic Bold"/>
                <a:ea typeface="Montserrat Classic Bold"/>
                <a:cs typeface="Montserrat Classic Bold"/>
                <a:sym typeface="Montserrat Classic Bold"/>
              </a:rPr>
              <a:t>KEY INSIGHTS:</a:t>
            </a:r>
          </a:p>
          <a:p>
            <a:pPr marL="1057908" lvl="2" indent="-352636" algn="l">
              <a:lnSpc>
                <a:spcPts val="3429"/>
              </a:lnSpc>
              <a:buFont typeface="Arial"/>
              <a:buChar char="⚬"/>
            </a:pPr>
            <a:r>
              <a:rPr lang="en-US" sz="2449" b="1" spc="110">
                <a:solidFill>
                  <a:srgbClr val="2A2E3A"/>
                </a:solidFill>
                <a:latin typeface="Montserrat Classic Bold"/>
                <a:ea typeface="Montserrat Classic Bold"/>
                <a:cs typeface="Montserrat Classic Bold"/>
                <a:sym typeface="Montserrat Classic Bold"/>
              </a:rPr>
              <a:t>AGE DISTRIBUTION: MAJORITY OF HEART DISEASE CASES FALL BETWEEN THE AGES OF 40 AND 70. </a:t>
            </a:r>
          </a:p>
          <a:p>
            <a:pPr marL="1057908" lvl="2" indent="-352636" algn="l">
              <a:lnSpc>
                <a:spcPts val="3429"/>
              </a:lnSpc>
              <a:buFont typeface="Arial"/>
              <a:buChar char="⚬"/>
            </a:pPr>
            <a:r>
              <a:rPr lang="en-US" sz="2449" b="1" spc="110">
                <a:solidFill>
                  <a:srgbClr val="2A2E3A"/>
                </a:solidFill>
                <a:latin typeface="Montserrat Classic Bold"/>
                <a:ea typeface="Montserrat Classic Bold"/>
                <a:cs typeface="Montserrat Classic Bold"/>
                <a:sym typeface="Montserrat Classic Bold"/>
              </a:rPr>
              <a:t>GENDER DISTRIBUTION:79% OF PATIENTS ARE MALE, 21% FEMALE.</a:t>
            </a:r>
          </a:p>
          <a:p>
            <a:pPr marL="1057908" lvl="2" indent="-352636" algn="l">
              <a:lnSpc>
                <a:spcPts val="3429"/>
              </a:lnSpc>
              <a:buFont typeface="Arial"/>
              <a:buChar char="⚬"/>
            </a:pPr>
            <a:r>
              <a:rPr lang="en-US" sz="2449" b="1" spc="110">
                <a:solidFill>
                  <a:srgbClr val="2A2E3A"/>
                </a:solidFill>
                <a:latin typeface="Montserrat Classic Bold"/>
                <a:ea typeface="Montserrat Classic Bold"/>
                <a:cs typeface="Montserrat Classic Bold"/>
                <a:sym typeface="Montserrat Classic Bold"/>
              </a:rPr>
              <a:t>CORRELATIONS: STRONG RELATIONSHIPS FOUND BETWEEN VARIABLES SUCH AS CHOLESTEROL, AGE, AND MAXIMUM HEART RATE.</a:t>
            </a:r>
          </a:p>
          <a:p>
            <a:pPr algn="l">
              <a:lnSpc>
                <a:spcPts val="3429"/>
              </a:lnSpc>
            </a:pPr>
            <a:endParaRPr lang="en-US" sz="2449" b="1" spc="110">
              <a:solidFill>
                <a:srgbClr val="2A2E3A"/>
              </a:solidFill>
              <a:latin typeface="Montserrat Classic Bold"/>
              <a:ea typeface="Montserrat Classic Bold"/>
              <a:cs typeface="Montserrat Classic Bold"/>
              <a:sym typeface="Montserrat Classic Bold"/>
            </a:endParaRPr>
          </a:p>
          <a:p>
            <a:pPr marL="528954" lvl="1" indent="-264477" algn="l">
              <a:lnSpc>
                <a:spcPts val="3429"/>
              </a:lnSpc>
              <a:buFont typeface="Arial"/>
              <a:buChar char="•"/>
            </a:pPr>
            <a:r>
              <a:rPr lang="en-US" sz="2449" b="1" spc="110">
                <a:solidFill>
                  <a:srgbClr val="2A2E3A"/>
                </a:solidFill>
                <a:latin typeface="Montserrat Classic Bold"/>
                <a:ea typeface="Montserrat Classic Bold"/>
                <a:cs typeface="Montserrat Classic Bold"/>
                <a:sym typeface="Montserrat Classic Bold"/>
              </a:rPr>
              <a:t>IMPORTANCE OF VISUALIZATION: HELPS TO QUICKLY UNDERSTAND PATTERNS, RELATIONSHIPS, AND TRENDS IN THE DATASET.</a:t>
            </a:r>
          </a:p>
          <a:p>
            <a:pPr algn="l">
              <a:lnSpc>
                <a:spcPts val="3429"/>
              </a:lnSpc>
            </a:pPr>
            <a:endParaRPr lang="en-US" sz="2449" b="1" spc="110">
              <a:solidFill>
                <a:srgbClr val="2A2E3A"/>
              </a:solidFill>
              <a:latin typeface="Montserrat Classic Bold"/>
              <a:ea typeface="Montserrat Classic Bold"/>
              <a:cs typeface="Montserrat Classic Bold"/>
              <a:sym typeface="Montserrat Classic Bold"/>
            </a:endParaRPr>
          </a:p>
          <a:p>
            <a:pPr marL="528954" lvl="1" indent="-264477" algn="l">
              <a:lnSpc>
                <a:spcPts val="3429"/>
              </a:lnSpc>
              <a:buFont typeface="Arial"/>
              <a:buChar char="•"/>
            </a:pPr>
            <a:r>
              <a:rPr lang="en-US" sz="2449" b="1" spc="110">
                <a:solidFill>
                  <a:srgbClr val="2A2E3A"/>
                </a:solidFill>
                <a:latin typeface="Montserrat Classic Bold"/>
                <a:ea typeface="Montserrat Classic Bold"/>
                <a:cs typeface="Montserrat Classic Bold"/>
                <a:sym typeface="Montserrat Classic Bold"/>
              </a:rPr>
              <a:t>FURTHER ANALYSIS COULD EXPLORE PREDICTIVE MODELING TO IDENTIFY HIGH-RISK INDIVIDUALS.</a:t>
            </a:r>
          </a:p>
          <a:p>
            <a:pPr algn="ctr">
              <a:lnSpc>
                <a:spcPts val="3009"/>
              </a:lnSpc>
            </a:pPr>
            <a:endParaRPr lang="en-US" sz="2449" b="1" spc="110">
              <a:solidFill>
                <a:srgbClr val="2A2E3A"/>
              </a:solidFill>
              <a:latin typeface="Montserrat Classic Bold"/>
              <a:ea typeface="Montserrat Classic Bold"/>
              <a:cs typeface="Montserrat Classic Bold"/>
              <a:sym typeface="Montserrat Classic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46741" y="1309493"/>
            <a:ext cx="7594518" cy="911119"/>
          </a:xfrm>
          <a:prstGeom prst="rect">
            <a:avLst/>
          </a:prstGeom>
        </p:spPr>
        <p:txBody>
          <a:bodyPr lIns="0" tIns="0" rIns="0" bIns="0" rtlCol="0" anchor="t">
            <a:spAutoFit/>
          </a:bodyPr>
          <a:lstStyle/>
          <a:p>
            <a:pPr marL="0" lvl="0" indent="0" algn="ctr">
              <a:lnSpc>
                <a:spcPts val="7182"/>
              </a:lnSpc>
              <a:spcBef>
                <a:spcPct val="0"/>
              </a:spcBef>
            </a:pPr>
            <a:r>
              <a:rPr lang="en-US" sz="5985" b="1" spc="215">
                <a:solidFill>
                  <a:srgbClr val="2A2E3A"/>
                </a:solidFill>
                <a:latin typeface="Montserrat Classic Bold"/>
                <a:ea typeface="Montserrat Classic Bold"/>
                <a:cs typeface="Montserrat Classic Bold"/>
                <a:sym typeface="Montserrat Classic Bold"/>
              </a:rPr>
              <a:t>Reference</a:t>
            </a:r>
          </a:p>
        </p:txBody>
      </p:sp>
      <p:sp>
        <p:nvSpPr>
          <p:cNvPr id="3" name="TextBox 3"/>
          <p:cNvSpPr txBox="1"/>
          <p:nvPr/>
        </p:nvSpPr>
        <p:spPr>
          <a:xfrm>
            <a:off x="1028700" y="2975342"/>
            <a:ext cx="16230600" cy="3582671"/>
          </a:xfrm>
          <a:prstGeom prst="rect">
            <a:avLst/>
          </a:prstGeom>
        </p:spPr>
        <p:txBody>
          <a:bodyPr lIns="0" tIns="0" rIns="0" bIns="0" rtlCol="0" anchor="t">
            <a:spAutoFit/>
          </a:bodyPr>
          <a:lstStyle/>
          <a:p>
            <a:pPr marL="647700" lvl="1" indent="-323850" algn="l">
              <a:lnSpc>
                <a:spcPts val="4200"/>
              </a:lnSpc>
              <a:buFont typeface="Arial"/>
              <a:buChar char="•"/>
            </a:pPr>
            <a:r>
              <a:rPr lang="en-US" sz="3000" b="1" spc="135" dirty="0">
                <a:solidFill>
                  <a:srgbClr val="2A2E3A"/>
                </a:solidFill>
                <a:latin typeface="Montserrat Classic Bold"/>
                <a:ea typeface="Montserrat Classic Bold"/>
                <a:cs typeface="Montserrat Classic Bold"/>
                <a:sym typeface="Montserrat Classic Bold"/>
              </a:rPr>
              <a:t>DATASET : </a:t>
            </a:r>
            <a:r>
              <a:rPr lang="en-US" sz="3000" b="1" spc="135" dirty="0">
                <a:solidFill>
                  <a:srgbClr val="2A2E3A"/>
                </a:solidFill>
                <a:latin typeface="Montserrat Classic Bold"/>
                <a:ea typeface="Montserrat Classic Bold"/>
                <a:cs typeface="Montserrat Classic Bold"/>
                <a:sym typeface="Montserrat Classic Bold"/>
                <a:hlinkClick r:id="rId2" tooltip="https://www.kaggle.com/datasets/fedesoriano/heart-failure-prediction"/>
              </a:rPr>
              <a:t>WWW.KAGGLE.COM/DATASETS/FEDESORIANO/HEART-FAILURE-PREDICTION</a:t>
            </a:r>
          </a:p>
          <a:p>
            <a:pPr algn="l">
              <a:lnSpc>
                <a:spcPts val="4200"/>
              </a:lnSpc>
            </a:pPr>
            <a:endParaRPr lang="en-US" sz="3000" b="1" spc="135" dirty="0">
              <a:solidFill>
                <a:srgbClr val="2A2E3A"/>
              </a:solidFill>
              <a:latin typeface="Montserrat Classic Bold"/>
              <a:ea typeface="Montserrat Classic Bold"/>
              <a:cs typeface="Montserrat Classic Bold"/>
              <a:sym typeface="Montserrat Classic Bold"/>
              <a:hlinkClick r:id="rId2" tooltip="https://www.kaggle.com/datasets/fedesoriano/heart-failure-prediction"/>
            </a:endParaRPr>
          </a:p>
          <a:p>
            <a:pPr marL="647700" lvl="1" indent="-323850" algn="l">
              <a:lnSpc>
                <a:spcPts val="4200"/>
              </a:lnSpc>
              <a:buFont typeface="Arial"/>
              <a:buChar char="•"/>
            </a:pPr>
            <a:r>
              <a:rPr lang="en-US" sz="3000" b="1" spc="135" dirty="0">
                <a:solidFill>
                  <a:srgbClr val="2A2E3A"/>
                </a:solidFill>
                <a:latin typeface="Montserrat Classic Bold"/>
                <a:ea typeface="Montserrat Classic Bold"/>
                <a:cs typeface="Montserrat Classic Bold"/>
                <a:sym typeface="Montserrat Classic Bold"/>
              </a:rPr>
              <a:t>COURSE : </a:t>
            </a:r>
            <a:r>
              <a:rPr lang="en-US" sz="3000" b="1" spc="135" dirty="0">
                <a:solidFill>
                  <a:srgbClr val="2A2E3A"/>
                </a:solidFill>
                <a:latin typeface="Montserrat Classic Bold"/>
                <a:ea typeface="Montserrat Classic Bold"/>
                <a:cs typeface="Montserrat Classic Bold"/>
                <a:sym typeface="Montserrat Classic Bold"/>
                <a:hlinkClick r:id="rId3" tooltip="https://www.geeksforgeeks.org/courses/data-science-live"/>
              </a:rPr>
              <a:t>WWW.GEEKSFORGEEKS.ORG/COURSES/DATA-SCIENCE-LIVE</a:t>
            </a:r>
          </a:p>
          <a:p>
            <a:pPr algn="l">
              <a:lnSpc>
                <a:spcPts val="4200"/>
              </a:lnSpc>
            </a:pPr>
            <a:endParaRPr lang="en-US" sz="3000" b="1" spc="135" dirty="0">
              <a:solidFill>
                <a:srgbClr val="2A2E3A"/>
              </a:solidFill>
              <a:latin typeface="Montserrat Classic Bold"/>
              <a:ea typeface="Montserrat Classic Bold"/>
              <a:cs typeface="Montserrat Classic Bold"/>
              <a:sym typeface="Montserrat Classic Bold"/>
              <a:hlinkClick r:id="rId3" tooltip="https://www.geeksforgeeks.org/courses/data-science-live"/>
            </a:endParaRPr>
          </a:p>
          <a:p>
            <a:pPr marL="647700" lvl="1" indent="-323850" algn="l">
              <a:lnSpc>
                <a:spcPts val="4200"/>
              </a:lnSpc>
              <a:buFont typeface="Arial"/>
              <a:buChar char="•"/>
            </a:pPr>
            <a:r>
              <a:rPr lang="en-US" sz="3000" b="1" spc="135" dirty="0">
                <a:solidFill>
                  <a:srgbClr val="2A2E3A"/>
                </a:solidFill>
                <a:latin typeface="Montserrat Classic Bold"/>
                <a:ea typeface="Montserrat Classic Bold"/>
                <a:cs typeface="Montserrat Classic Bold"/>
                <a:sym typeface="Montserrat Classic Bold"/>
              </a:rPr>
              <a:t>TOOLS : PANDAS, SEABORN, MATPLOTLIB</a:t>
            </a:r>
          </a:p>
          <a:p>
            <a:pPr algn="ctr">
              <a:lnSpc>
                <a:spcPts val="3009"/>
              </a:lnSpc>
            </a:pPr>
            <a:endParaRPr lang="en-US" sz="3000" b="1" spc="135" dirty="0">
              <a:solidFill>
                <a:srgbClr val="2A2E3A"/>
              </a:solidFill>
              <a:latin typeface="Montserrat Classic Bold"/>
              <a:ea typeface="Montserrat Classic Bold"/>
              <a:cs typeface="Montserrat Classic Bold"/>
              <a:sym typeface="Montserrat Classic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602</Words>
  <Application>Microsoft Office PowerPoint</Application>
  <PresentationFormat>Custom</PresentationFormat>
  <Paragraphs>61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Montserrat</vt:lpstr>
      <vt:lpstr>Arial</vt:lpstr>
      <vt:lpstr>Montserrat Classic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Visualization on Heart Disease Dataset</dc:title>
  <dc:creator>Sinan .</dc:creator>
  <cp:lastModifiedBy>Muhammed Althaf K</cp:lastModifiedBy>
  <cp:revision>3</cp:revision>
  <dcterms:created xsi:type="dcterms:W3CDTF">2006-08-16T00:00:00Z</dcterms:created>
  <dcterms:modified xsi:type="dcterms:W3CDTF">2024-10-12T09:27:24Z</dcterms:modified>
  <dc:identifier>DAGRbPPxo5E</dc:identifier>
</cp:coreProperties>
</file>